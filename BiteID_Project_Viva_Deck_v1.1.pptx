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943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635508"/>
            <a:ext cx="9966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122120"/>
                </a:solidFill>
                <a:latin typeface="Aptos"/>
              </a:defRPr>
            </a:pPr>
            <a:r>
              <a:rPr dirty="0"/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76072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BiteID</a:t>
            </a:r>
            <a:r>
              <a:rPr dirty="0"/>
              <a:t/>
            </a:r>
            <a:br>
              <a:rPr dirty="0"/>
            </a:br>
            <a:r>
              <a:rPr dirty="0"/>
              <a:t>Smart Food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53035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0">
                <a:solidFill>
                  <a:srgbClr val="CADCD1"/>
                </a:solidFill>
                <a:latin typeface="Aptos"/>
              </a:defRPr>
            </a:pPr>
            <a:r>
              <a:t>From food image to predicted dish — powered by transfer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53035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VIVA PRESENTATION  •  TEAM TENSOR-TRIO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Madhur Modi  /  Srikar Josyam  /  Samuel Pradeep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594360"/>
            <a:ext cx="5074920" cy="5669280"/>
          </a:xfrm>
          <a:prstGeom prst="roundRect">
            <a:avLst>
              <a:gd name="adj" fmla="val 12000"/>
            </a:avLst>
          </a:prstGeom>
          <a:solidFill>
            <a:srgbClr val="1F3531"/>
          </a:solidFill>
          <a:ln>
            <a:solidFill>
              <a:srgbClr val="1F3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60920" y="960120"/>
            <a:ext cx="1920240" cy="192024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72146" y="1171346"/>
            <a:ext cx="1497787" cy="1497787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10800000">
            <a:off x="7840980" y="1286560"/>
            <a:ext cx="960120" cy="1113739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09813" y="1632204"/>
            <a:ext cx="153619" cy="153619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7052" y="1805025"/>
            <a:ext cx="153619" cy="153619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230" y="2054656"/>
            <a:ext cx="153619" cy="153619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81160" y="182880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62211" y="2009851"/>
            <a:ext cx="1283817" cy="1283817"/>
          </a:xfrm>
          <a:prstGeom prst="ellipse">
            <a:avLst/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92640" y="232257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21824" y="2190902"/>
            <a:ext cx="312724" cy="312724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35793" y="252008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24313" y="2684678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37038" y="2799892"/>
            <a:ext cx="312724" cy="31272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0" y="3520440"/>
            <a:ext cx="1600200" cy="160020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08342" y="3696462"/>
            <a:ext cx="1248156" cy="1248156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84364" y="4048506"/>
            <a:ext cx="896112" cy="512064"/>
          </a:xfrm>
          <a:prstGeom prst="roundRect">
            <a:avLst>
              <a:gd name="adj" fmla="val 12000"/>
            </a:avLst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6358" y="3968496"/>
            <a:ext cx="992124" cy="1440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40396" y="4128516"/>
            <a:ext cx="112014" cy="11201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32420" y="4128516"/>
            <a:ext cx="112014" cy="11201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24444" y="4128516"/>
            <a:ext cx="112014" cy="11201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0" y="3977639"/>
            <a:ext cx="1965960" cy="196596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60255" y="4193895"/>
            <a:ext cx="1533448" cy="1533448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15830" y="4449470"/>
            <a:ext cx="1022299" cy="1022299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32086" y="4587087"/>
            <a:ext cx="157276" cy="157276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66299" y="4803343"/>
            <a:ext cx="157276" cy="157276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8606929" y="6346850"/>
            <a:ext cx="785090" cy="0"/>
          </a:xfrm>
          <a:prstGeom prst="line">
            <a:avLst/>
          </a:prstGeom>
          <a:ln w="25400">
            <a:solidFill>
              <a:srgbClr val="D2E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29600" y="2468880"/>
            <a:ext cx="182880" cy="182880"/>
          </a:xfrm>
          <a:prstGeom prst="ellipse">
            <a:avLst/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4434" y="6469380"/>
            <a:ext cx="1920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D2E870"/>
                </a:solidFill>
                <a:latin typeface="Aptos"/>
              </a:defRPr>
            </a:pPr>
            <a:r>
              <a:rPr dirty="0"/>
              <a:t>IMAGE → 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The problem: recognize a dish from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06849"/>
            <a:ext cx="3995928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627170"/>
                </a:solidFill>
                <a:latin typeface="Aptos"/>
              </a:defRPr>
            </a:pPr>
            <a:r>
              <a:rPr dirty="0"/>
              <a:t>The model maps an RGB food photo to one of 101 Food-101 categories.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03320"/>
            <a:ext cx="1417320" cy="14173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865" y="3859225"/>
            <a:ext cx="1105509" cy="1105509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177290" y="3944264"/>
            <a:ext cx="708660" cy="822045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5714" y="4199381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602486" y="4326940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74927" y="4511192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4041648"/>
            <a:ext cx="1188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4343400"/>
            <a:ext cx="105156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182880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210312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606040"/>
            <a:ext cx="21945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500" b="1">
                <a:solidFill>
                  <a:srgbClr val="1B272A"/>
                </a:solidFill>
                <a:latin typeface="Aptos Display"/>
              </a:defRPr>
            </a:pPr>
            <a:r>
              <a:t>Pizza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090672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Top class •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566160"/>
            <a:ext cx="2057400" cy="155448"/>
          </a:xfrm>
          <a:prstGeom prst="roundRect">
            <a:avLst>
              <a:gd name="adj" fmla="val 12000"/>
            </a:avLst>
          </a:prstGeom>
          <a:solidFill>
            <a:srgbClr val="E6EAE1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83480" y="3566160"/>
            <a:ext cx="1645920" cy="155448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822191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Illustrative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434840"/>
            <a:ext cx="2103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B272A"/>
                </a:solidFill>
                <a:latin typeface="Aptos"/>
              </a:defRPr>
            </a:pPr>
            <a:r>
              <a:t>Top-5 labels</a:t>
            </a:r>
            <a:br/>
            <a:r>
              <a:t>for useful alternatives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78308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1993392"/>
            <a:ext cx="2834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359152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t>Dish-category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3375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547872"/>
            <a:ext cx="2834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BC483E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13632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Calories • nutrition • medical advice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5074920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5116068"/>
            <a:ext cx="30540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SUCCESS = USEFUL + REPRODUCIBLE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Dataset: diversity is the learning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7432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100" b="1">
                <a:solidFill>
                  <a:srgbClr val="236953"/>
                </a:solidFill>
                <a:latin typeface="Aptos Display"/>
              </a:defRPr>
            </a:pPr>
            <a:r>
              <a:t>101,000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627170"/>
                </a:solidFill>
                <a:latin typeface="Aptos"/>
              </a:defRPr>
            </a:pPr>
            <a:r>
              <a:t>images in Food-101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72768"/>
            <a:ext cx="2103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100" b="1">
                <a:solidFill>
                  <a:srgbClr val="EF7758"/>
                </a:solidFill>
                <a:latin typeface="Aptos Display"/>
              </a:defRPr>
            </a:pPr>
            <a: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67712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627170"/>
                </a:solidFill>
                <a:latin typeface="Aptos"/>
              </a:defRPr>
            </a:pPr>
            <a:r>
              <a:t>food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6599" y="3312871"/>
            <a:ext cx="927201" cy="927201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303020" y="3384194"/>
            <a:ext cx="594360" cy="689457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69440" y="3598164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59636" y="3705148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52651" y="3859682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EF7758"/>
                </a:solidFill>
                <a:latin typeface="Aptos"/>
              </a:defRPr>
            </a:pPr>
            <a:r>
              <a:t>PIZZA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71800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102559" y="3312871"/>
            <a:ext cx="927201" cy="927201"/>
          </a:xfrm>
          <a:prstGeom prst="ellipse">
            <a:avLst/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68980" y="3538728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06724" y="3443630"/>
            <a:ext cx="225856" cy="225856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61257" y="3681374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64077" y="3800246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89934" y="3883456"/>
            <a:ext cx="225856" cy="225856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07792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SALAD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937759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68519" y="3312871"/>
            <a:ext cx="927201" cy="927201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99278" y="3574389"/>
            <a:ext cx="665683" cy="380390"/>
          </a:xfrm>
          <a:prstGeom prst="roundRect">
            <a:avLst>
              <a:gd name="adj" fmla="val 12000"/>
            </a:avLst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63616" y="3514953"/>
            <a:ext cx="737006" cy="106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89473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532120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674766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73751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5C91AC"/>
                </a:solidFill>
                <a:latin typeface="Aptos"/>
              </a:defRPr>
            </a:pPr>
            <a:r>
              <a:t>SOUP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19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903719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34479" y="3312871"/>
            <a:ext cx="927201" cy="927201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89012" y="3467404"/>
            <a:ext cx="618134" cy="61813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319771" y="3550615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21854" y="3681374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39711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4C34B"/>
                </a:solidFill>
                <a:latin typeface="Aptos"/>
              </a:defRPr>
            </a:pPr>
            <a:r>
              <a:t>DISH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600200"/>
            <a:ext cx="2606040" cy="365760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06840" y="1901952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INPUT PIPELINE</a:t>
            </a:r>
          </a:p>
        </p:txBody>
      </p:sp>
      <p:sp>
        <p:nvSpPr>
          <p:cNvPr id="45" name="Oval 44"/>
          <p:cNvSpPr/>
          <p:nvPr/>
        </p:nvSpPr>
        <p:spPr>
          <a:xfrm>
            <a:off x="9015984" y="2423160"/>
            <a:ext cx="292608" cy="292608"/>
          </a:xfrm>
          <a:prstGeom prst="ellipse">
            <a:avLst/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15984" y="2487168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221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8" y="2464308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RGB image</a:t>
            </a:r>
          </a:p>
        </p:txBody>
      </p:sp>
      <p:sp>
        <p:nvSpPr>
          <p:cNvPr id="48" name="Oval 47"/>
          <p:cNvSpPr/>
          <p:nvPr/>
        </p:nvSpPr>
        <p:spPr>
          <a:xfrm>
            <a:off x="9015984" y="3044952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15984" y="3108960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6608" y="3086100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Resize 224 × 224</a:t>
            </a:r>
          </a:p>
        </p:txBody>
      </p:sp>
      <p:sp>
        <p:nvSpPr>
          <p:cNvPr id="51" name="Oval 50"/>
          <p:cNvSpPr/>
          <p:nvPr/>
        </p:nvSpPr>
        <p:spPr>
          <a:xfrm>
            <a:off x="9015984" y="3666744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15984" y="3730752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3707891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Augment training data</a:t>
            </a:r>
          </a:p>
        </p:txBody>
      </p:sp>
      <p:sp>
        <p:nvSpPr>
          <p:cNvPr id="54" name="Oval 53"/>
          <p:cNvSpPr/>
          <p:nvPr/>
        </p:nvSpPr>
        <p:spPr>
          <a:xfrm>
            <a:off x="9015984" y="4288536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15984" y="4352544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4329683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Tensor input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66928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627170"/>
                </a:solidFill>
                <a:latin typeface="Aptos"/>
              </a:defRPr>
            </a:pPr>
            <a:r>
              <a:t>Training augmentation helps with variation; it does not eliminate real-world domain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03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Model strategy: reuse learned visual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627170"/>
                </a:solidFill>
                <a:latin typeface="Aptos"/>
              </a:defRPr>
            </a:pPr>
            <a:r>
              <a:t>Transfer learning reduces the need to learn visual features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53312" y="2670048"/>
            <a:ext cx="566928" cy="566928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PRETRAINED</a:t>
            </a:r>
            <a:br/>
            <a:r>
              <a:t>BACKBONE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2670048"/>
            <a:ext cx="566928" cy="56692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3872" y="2670048"/>
            <a:ext cx="566928" cy="56692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FINE-</a:t>
            </a:r>
            <a:br/>
            <a:r>
              <a:t>TUNING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74152" y="2670048"/>
            <a:ext cx="566928" cy="566928"/>
          </a:xfrm>
          <a:prstGeom prst="ellipse">
            <a:avLst/>
          </a:prstGeom>
          <a:solidFill>
            <a:srgbClr val="96701C"/>
          </a:solidFill>
          <a:ln>
            <a:solidFill>
              <a:srgbClr val="967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CLASS</a:t>
            </a:r>
            <a:br/>
            <a:r>
              <a:t>PROBABILITIES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33472" y="3337560"/>
            <a:ext cx="292607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73752" y="333756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14032" y="333756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2423160"/>
            <a:ext cx="1645920" cy="1874519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2724912"/>
            <a:ext cx="1280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D2E8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00400"/>
            <a:ext cx="1280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101</a:t>
            </a:r>
            <a:br/>
            <a:r>
              <a:t>classes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106527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102352"/>
            <a:ext cx="10149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236953"/>
                </a:solidFill>
                <a:latin typeface="Aptos"/>
              </a:defRPr>
            </a:pPr>
            <a:r>
              <a:t>Saved artifacts: best_transfer_model.keras  +  class_names.json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Baseline: custom CNN   •   Transfer model: pretrained backbone + fine-tuning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04 /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Training evidence — and what it does not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36118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RECORDED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6517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74.65%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25603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dirty="0"/>
              <a:t>Final validation accuracy</a:t>
            </a:r>
            <a:br>
              <a:rPr dirty="0"/>
            </a:br>
            <a:r>
              <a:rPr dirty="0"/>
              <a:t>from saved training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1645920"/>
            <a:ext cx="3200400" cy="36118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199339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RECORDED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651760"/>
            <a:ext cx="2651760" cy="5755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92</a:t>
            </a:r>
            <a:r>
              <a:rPr dirty="0" smtClean="0"/>
              <a:t>.</a:t>
            </a:r>
            <a:r>
              <a:rPr lang="en-US" dirty="0" smtClean="0"/>
              <a:t>94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4544568" y="3749039"/>
            <a:ext cx="2560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lang="en-US" dirty="0" smtClean="0"/>
              <a:t>Prediction is considered right if one of the top 5 highest probability guesses matches the actual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051560" y="3217141"/>
            <a:ext cx="25603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lang="en-US" dirty="0" smtClean="0"/>
              <a:t>Top-1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498848" y="3217141"/>
            <a:ext cx="25603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lang="en-US" dirty="0" smtClean="0"/>
              <a:t>Top-5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7835947" y="1645920"/>
            <a:ext cx="3200400" cy="36118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55987" y="199339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RECORDED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267" y="2651760"/>
            <a:ext cx="2651760" cy="5755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483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8155987" y="3749039"/>
            <a:ext cx="2560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lang="en-US" dirty="0" smtClean="0"/>
              <a:t>Cases when model says something with high probability but the answer is wrong. We are showing 25 in the app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8110267" y="3217141"/>
            <a:ext cx="25603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rPr lang="en-US" dirty="0" smtClean="0"/>
              <a:t>High confidence failures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05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Streamlit: three ways to test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66751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6675120" cy="50292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737360"/>
            <a:ext cx="109728" cy="109728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1737360"/>
            <a:ext cx="109728" cy="109728"/>
          </a:xfrm>
          <a:prstGeom prst="ellipse">
            <a:avLst/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BiteID  /  Smart Food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2926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Choose an input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7889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" y="2944368"/>
            <a:ext cx="384048" cy="38404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986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Upload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352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Bring your own photo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033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3000" y="3858768"/>
            <a:ext cx="384048" cy="38404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8130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Sample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496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Repeatable demo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6177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43000" y="4773168"/>
            <a:ext cx="384048" cy="38404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8737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7274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Known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640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Inspect a misclassification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78308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DEMO STORY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2496312"/>
            <a:ext cx="0" cy="475488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882127" y="2331720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2313432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596896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Photo enters the app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28431" y="3300984"/>
            <a:ext cx="0" cy="475488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82127" y="3136391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60" y="3118103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401568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Saved model predicts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28431" y="4105655"/>
            <a:ext cx="0" cy="475489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82127" y="3941063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3922776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206240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Ranked labels + confidence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28431" y="4910327"/>
            <a:ext cx="0" cy="475489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882127" y="4745736"/>
            <a:ext cx="292608" cy="29260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4727448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Learning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010912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Failures inform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71500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BC483E"/>
                </a:solidFill>
                <a:latin typeface="Aptos"/>
              </a:defRPr>
            </a:pPr>
            <a:r>
              <a:t>No retraining during app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06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Evaluation: measure more than one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236953"/>
                </a:solidFill>
                <a:latin typeface="Aptos"/>
              </a:defRPr>
            </a:pPr>
            <a: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Exact top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5C91AC"/>
                </a:solidFill>
                <a:latin typeface="Aptos"/>
              </a:defRPr>
            </a:pPr>
            <a:r>
              <a:t>TOP-5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Correct class in top five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EF7758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Class-balanced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59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91701C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Time per inference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474720"/>
            <a:ext cx="10607040" cy="22402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52489" y="3767328"/>
            <a:ext cx="9383151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WHY FAILURE ANALYSIS MATTERS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7037" y="4251960"/>
            <a:ext cx="9247163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A single accuracy score hides which classes are confused — and where confidence is misplaced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07 /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Failure cases turn errors into engineering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175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17320" y="196596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98371" y="2147011"/>
            <a:ext cx="1283817" cy="1283817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10800000">
            <a:off x="1828800" y="2245766"/>
            <a:ext cx="822960" cy="954633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59228" y="2542032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22576" y="2690164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74443" y="2904134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000" b="1">
                <a:solidFill>
                  <a:srgbClr val="1B272A"/>
                </a:solidFill>
                <a:latin typeface="Aptos"/>
              </a:defRPr>
            </a:pPr>
            <a: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645920"/>
            <a:ext cx="30175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46320" y="196596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27371" y="2147011"/>
            <a:ext cx="1283817" cy="1283817"/>
          </a:xfrm>
          <a:prstGeom prst="ellipse">
            <a:avLst/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57800" y="245973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586983" y="2328062"/>
            <a:ext cx="312724" cy="312724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00953" y="265724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89473" y="2821838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02198" y="2937052"/>
            <a:ext cx="312724" cy="31272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BC483E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5196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000" b="1">
                <a:solidFill>
                  <a:srgbClr val="1B272A"/>
                </a:solidFill>
                <a:latin typeface="Aptos"/>
              </a:defRPr>
            </a:pPr>
            <a:r>
              <a:t>Salad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200400"/>
            <a:ext cx="320040" cy="0"/>
          </a:xfrm>
          <a:prstGeom prst="line">
            <a:avLst/>
          </a:prstGeom>
          <a:ln w="381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1645920"/>
            <a:ext cx="3703320" cy="34747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196596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DEBUGGING LOOP</a:t>
            </a:r>
          </a:p>
        </p:txBody>
      </p:sp>
      <p:sp>
        <p:nvSpPr>
          <p:cNvPr id="28" name="Oval 27"/>
          <p:cNvSpPr/>
          <p:nvPr/>
        </p:nvSpPr>
        <p:spPr>
          <a:xfrm>
            <a:off x="7973568" y="2514600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2569464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96312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Inspect image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7973568" y="2953512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3568" y="3008376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35224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Review confusion pairs</a:t>
            </a:r>
          </a:p>
        </p:txBody>
      </p:sp>
      <p:sp>
        <p:nvSpPr>
          <p:cNvPr id="34" name="Oval 33"/>
          <p:cNvSpPr/>
          <p:nvPr/>
        </p:nvSpPr>
        <p:spPr>
          <a:xfrm>
            <a:off x="7973568" y="3392424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73568" y="3447288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74136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Check class imbalance</a:t>
            </a:r>
          </a:p>
        </p:txBody>
      </p:sp>
      <p:sp>
        <p:nvSpPr>
          <p:cNvPr id="37" name="Oval 36"/>
          <p:cNvSpPr/>
          <p:nvPr/>
        </p:nvSpPr>
        <p:spPr>
          <a:xfrm>
            <a:off x="7973568" y="3831335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73568" y="3886199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13048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Compare confidence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7973568" y="4270248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73568" y="4325112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251960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Add targeted examples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623560"/>
            <a:ext cx="105156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rPr dirty="0"/>
              <a:t>Example is schematic, not a recorded model </a:t>
            </a:r>
            <a:r>
              <a:rPr dirty="0" smtClean="0"/>
              <a:t>error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08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System architecture: train once, evaluate, then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FOOD-101</a:t>
            </a:r>
            <a:br/>
            <a: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TRAINING</a:t>
            </a:r>
            <a:br/>
            <a: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59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SAVED MODEL</a:t>
            </a:r>
            <a:br/>
            <a:r>
              <a:t>+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202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121408"/>
            <a:ext cx="24688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STREAMLIT</a:t>
            </a:r>
            <a:br/>
            <a:r>
              <a:t>INFERENCE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181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2834640"/>
            <a:ext cx="0" cy="86868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120640" y="3703320"/>
            <a:ext cx="1645920" cy="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00400" y="4160520"/>
            <a:ext cx="374903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407408"/>
            <a:ext cx="3200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236953"/>
                </a:solidFill>
                <a:latin typeface="Aptos"/>
              </a:defRPr>
            </a:pPr>
            <a:r>
              <a:t>EVALUATION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54880"/>
            <a:ext cx="3200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627170"/>
                </a:solidFill>
                <a:latin typeface="Aptos"/>
              </a:defRPr>
            </a:pPr>
            <a:r>
              <a:t>Metrics • confusion matrix • failures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703320"/>
            <a:ext cx="0" cy="41148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26679" y="416052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440740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D2E870"/>
                </a:solidFill>
                <a:latin typeface="Aptos"/>
              </a:defRPr>
            </a:pPr>
            <a:r>
              <a:t>SAVED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54880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evaluation_results/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0" y="4663440"/>
            <a:ext cx="731520" cy="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806440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Reproducibility principle: evaluation artifacts are generated ahead of time and mounted/read by the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What we learned —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84831"/>
            <a:ext cx="530352" cy="530352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Generate held-out metrics and capture real app screenshots.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97680" y="2084831"/>
            <a:ext cx="530352" cy="530352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Group errors by class, confidence, and image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35240" y="2084831"/>
            <a:ext cx="530352" cy="530352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Compare backbones, tune augmentation, measure latency.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3017520"/>
            <a:ext cx="320039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95160" y="3017520"/>
            <a:ext cx="32004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800600"/>
            <a:ext cx="9601200" cy="8686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056632"/>
            <a:ext cx="9052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BiteID = image classification + measurable evaluation + an iterative error-analysis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534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2026-10-15T01:51:45Z</dcterms:modified>
  <cp:category/>
</cp:coreProperties>
</file>