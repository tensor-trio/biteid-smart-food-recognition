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E8C644B-13EB-44A0-B579-9AD2AF44E83C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Backup" id="{8DB81E45-1071-4E67-A19E-831325020329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566928"/>
            <a:ext cx="1554480" cy="329184"/>
          </a:xfrm>
          <a:prstGeom prst="roundRect">
            <a:avLst>
              <a:gd name="adj" fmla="val 12000"/>
            </a:avLst>
          </a:prstGeom>
          <a:solidFill>
            <a:srgbClr val="D2E870"/>
          </a:solidFill>
          <a:ln>
            <a:solidFill>
              <a:srgbClr val="D2E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640080"/>
            <a:ext cx="137160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900" b="1">
                <a:solidFill>
                  <a:srgbClr val="122120"/>
                </a:solidFill>
                <a:latin typeface="Aptos"/>
              </a:defRPr>
            </a:pPr>
            <a:r>
              <a:t>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325880"/>
            <a:ext cx="5852160" cy="128016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BiteID</a:t>
            </a:r>
            <a:br/>
            <a:r>
              <a:t>Smart Food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944368"/>
            <a:ext cx="5166360" cy="9144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800" b="0">
                <a:solidFill>
                  <a:srgbClr val="CDDDD4"/>
                </a:solidFill>
                <a:latin typeface="Aptos"/>
              </a:defRPr>
            </a:pPr>
            <a:r>
              <a:t>Can a model recognize a dish from pixels—reliably, quickly, and transparently?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800600"/>
            <a:ext cx="53035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1">
                <a:solidFill>
                  <a:srgbClr val="D2E870"/>
                </a:solidFill>
                <a:latin typeface="Aptos"/>
              </a:defRPr>
            </a:pPr>
            <a:r>
              <a:t>TEAM TENSOR-TRIO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212080"/>
            <a:ext cx="5394960" cy="59436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400" b="0">
                <a:solidFill>
                  <a:srgbClr val="FFFFFF"/>
                </a:solidFill>
                <a:latin typeface="Aptos"/>
              </a:defRPr>
            </a:pPr>
            <a:r>
              <a:t>Madhur Modi  •  Srikar Josyam  •  Samuel Pradeep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566928"/>
            <a:ext cx="5166360" cy="5623560"/>
          </a:xfrm>
          <a:prstGeom prst="roundRect">
            <a:avLst>
              <a:gd name="adj" fmla="val 12000"/>
            </a:avLst>
          </a:prstGeom>
          <a:solidFill>
            <a:srgbClr val="1F3531"/>
          </a:solidFill>
          <a:ln>
            <a:solidFill>
              <a:srgbClr val="1F35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720840" y="896112"/>
            <a:ext cx="205740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pple_p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1005840"/>
            <a:ext cx="1837943" cy="13533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30568" y="2450592"/>
            <a:ext cx="1837943" cy="21945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100" b="1">
                <a:solidFill>
                  <a:srgbClr val="D2E870"/>
                </a:solidFill>
                <a:latin typeface="Aptos"/>
              </a:defRPr>
            </a:pPr>
            <a:r>
              <a:t>APPLE PIE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508760"/>
            <a:ext cx="196596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baklav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07" y="1618488"/>
            <a:ext cx="1746504" cy="13533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08007" y="3063240"/>
            <a:ext cx="1746504" cy="21945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100" b="1">
                <a:solidFill>
                  <a:srgbClr val="D2E870"/>
                </a:solidFill>
                <a:latin typeface="Aptos"/>
              </a:defRPr>
            </a:pPr>
            <a:r>
              <a:t>BAKLAVA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3703320"/>
            <a:ext cx="2423160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bibimba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7" y="3813048"/>
            <a:ext cx="2203704" cy="13990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836407" y="5303519"/>
            <a:ext cx="2203704" cy="21945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100" b="1">
                <a:solidFill>
                  <a:srgbClr val="D2E870"/>
                </a:solidFill>
                <a:latin typeface="Aptos"/>
              </a:defRPr>
            </a:pPr>
            <a:r>
              <a:t>BIBIMBAP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897880"/>
            <a:ext cx="443484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000" b="1">
                <a:solidFill>
                  <a:srgbClr val="D2E6DA"/>
                </a:solidFill>
                <a:latin typeface="Aptos"/>
              </a:defRPr>
            </a:pPr>
            <a:r>
              <a:t>Food image  →  predicted dish category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457200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02 / DATA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2600" b="1">
                <a:solidFill>
                  <a:srgbClr val="1B272A"/>
                </a:solidFill>
                <a:latin typeface="Aptos Display"/>
              </a:defRPr>
            </a:pPr>
            <a:r>
              <a:t>Dataset: Food-101 via TensorFlow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68580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2926080" cy="5029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3100" b="1">
                <a:solidFill>
                  <a:srgbClr val="236953"/>
                </a:solidFill>
                <a:latin typeface="Aptos Display"/>
              </a:defRPr>
            </a:pPr>
            <a:r>
              <a:t>101,000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7432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300" b="0">
                <a:solidFill>
                  <a:srgbClr val="627170"/>
                </a:solidFill>
                <a:latin typeface="Aptos"/>
              </a:defRPr>
            </a:pPr>
            <a:r>
              <a:t>images • 101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81328"/>
            <a:ext cx="2103120" cy="5029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2000" b="1">
                <a:solidFill>
                  <a:srgbClr val="EF7758"/>
                </a:solidFill>
                <a:latin typeface="Aptos Display"/>
              </a:defRPr>
            </a:pPr>
            <a:r>
              <a:t>75,750 / 25,250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057400"/>
            <a:ext cx="2468880" cy="4572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0">
                <a:solidFill>
                  <a:srgbClr val="627170"/>
                </a:solidFill>
                <a:latin typeface="Aptos"/>
              </a:defRPr>
            </a:pPr>
            <a:r>
              <a:t>official train / validation 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481328"/>
            <a:ext cx="4754880" cy="73152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12280" y="1673352"/>
            <a:ext cx="429768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1">
                <a:solidFill>
                  <a:srgbClr val="D2E870"/>
                </a:solidFill>
                <a:latin typeface="Aptos"/>
              </a:defRPr>
            </a:pPr>
            <a:r>
              <a:t>tfds.load("food101", as_supervised=True)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697480"/>
            <a:ext cx="36576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1">
                <a:solidFill>
                  <a:srgbClr val="236953"/>
                </a:solidFill>
                <a:latin typeface="Aptos"/>
              </a:defRPr>
            </a:pPr>
            <a:r>
              <a:t>BUNDLED SAMPLE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063240"/>
            <a:ext cx="19202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pple_p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3172968"/>
            <a:ext cx="1700784" cy="17190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9536" y="4983479"/>
            <a:ext cx="1700784" cy="21945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100" b="1">
                <a:solidFill>
                  <a:srgbClr val="236953"/>
                </a:solidFill>
                <a:latin typeface="Aptos"/>
              </a:defRPr>
            </a:pPr>
            <a:r>
              <a:t>apple_pie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3063240"/>
            <a:ext cx="19202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baklav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88" y="3172968"/>
            <a:ext cx="1700784" cy="17190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90088" y="4983479"/>
            <a:ext cx="1700784" cy="21945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100" b="1">
                <a:solidFill>
                  <a:srgbClr val="236953"/>
                </a:solidFill>
                <a:latin typeface="Aptos"/>
              </a:defRPr>
            </a:pPr>
            <a:r>
              <a:t>baklava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10912" y="3063240"/>
            <a:ext cx="19202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bibimba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172968"/>
            <a:ext cx="1700784" cy="17190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120640" y="4983479"/>
            <a:ext cx="1700784" cy="21945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100" b="1">
                <a:solidFill>
                  <a:srgbClr val="236953"/>
                </a:solidFill>
                <a:latin typeface="Aptos"/>
              </a:defRPr>
            </a:pPr>
            <a:r>
              <a:t>bibimbap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2880360"/>
            <a:ext cx="3977639" cy="265176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0" y="3182112"/>
            <a:ext cx="338328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1">
                <a:solidFill>
                  <a:srgbClr val="236953"/>
                </a:solidFill>
                <a:latin typeface="Aptos"/>
              </a:defRPr>
            </a:pPr>
            <a:r>
              <a:t>ACCESS &amp; REPRODUCIBILITY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657600"/>
            <a:ext cx="3337560" cy="115416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0">
                <a:solidFill>
                  <a:srgbClr val="1B272A"/>
                </a:solidFill>
                <a:latin typeface="Aptos"/>
              </a:defRPr>
            </a:pPr>
            <a:r>
              <a:rPr dirty="0"/>
              <a:t>• Source: </a:t>
            </a:r>
            <a:r>
              <a:rPr dirty="0" err="1"/>
              <a:t>TensorFlow</a:t>
            </a:r>
            <a:r>
              <a:rPr dirty="0"/>
              <a:t> Datasets / Food-101</a:t>
            </a:r>
            <a:br>
              <a:rPr dirty="0"/>
            </a:br>
            <a:r>
              <a:rPr dirty="0"/>
              <a:t>• Loaded by the data pipeline; </a:t>
            </a:r>
            <a:r>
              <a:rPr dirty="0" smtClean="0"/>
              <a:t>download/cache</a:t>
            </a:r>
            <a:r>
              <a:rPr lang="en-US" dirty="0" smtClean="0"/>
              <a:t> through </a:t>
            </a:r>
            <a:r>
              <a:rPr lang="en-US" dirty="0" err="1" smtClean="0"/>
              <a:t>jupyter</a:t>
            </a:r>
            <a:r>
              <a:rPr lang="en-US" dirty="0" smtClean="0"/>
              <a:t> notebook</a:t>
            </a:r>
            <a:r>
              <a:rPr dirty="0"/>
              <a:t/>
            </a:r>
            <a:br>
              <a:rPr dirty="0"/>
            </a:br>
            <a:r>
              <a:rPr dirty="0"/>
              <a:t>• Labels are class indices mapped to saved </a:t>
            </a:r>
            <a:r>
              <a:rPr dirty="0" err="1"/>
              <a:t>class_names.json</a:t>
            </a:r>
            <a:r>
              <a:rPr dirty="0"/>
              <a:t/>
            </a:r>
            <a:br>
              <a:rPr dirty="0"/>
            </a:br>
            <a:r>
              <a:rPr dirty="0"/>
              <a:t>• Seed: 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457200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03 /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2600" b="1">
                <a:solidFill>
                  <a:srgbClr val="1B272A"/>
                </a:solidFill>
                <a:latin typeface="Aptos Display"/>
              </a:defRPr>
            </a:pPr>
            <a:r>
              <a:t>EDA &amp; preprocessing: standardize inputs, preserve variation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68580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874519" cy="1280160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84248"/>
            <a:ext cx="164592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B272A"/>
                </a:solidFill>
                <a:latin typeface="Aptos"/>
              </a:defRPr>
            </a:pPr>
            <a:r>
              <a:t>RAW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164592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000" b="0">
                <a:solidFill>
                  <a:srgbClr val="627170"/>
                </a:solidFill>
                <a:latin typeface="Aptos"/>
              </a:defRPr>
            </a:pPr>
            <a:r>
              <a:t>variable sizes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737360"/>
            <a:ext cx="1874519" cy="128016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27248" y="1984248"/>
            <a:ext cx="164592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B272A"/>
                </a:solidFill>
                <a:latin typeface="Aptos"/>
              </a:defRPr>
            </a:pPr>
            <a:r>
              <a:t>RESIZE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2395728"/>
            <a:ext cx="164592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000" b="0">
                <a:solidFill>
                  <a:srgbClr val="627170"/>
                </a:solidFill>
                <a:latin typeface="Aptos"/>
              </a:defRPr>
            </a:pPr>
            <a:r>
              <a:t>224 × 224 RGB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737360"/>
            <a:ext cx="1874519" cy="1280160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13248" y="1984248"/>
            <a:ext cx="164592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B272A"/>
                </a:solidFill>
                <a:latin typeface="Aptos"/>
              </a:defRPr>
            </a:pPr>
            <a:r>
              <a:t>FLOAT32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2395728"/>
            <a:ext cx="164592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000" b="0">
                <a:solidFill>
                  <a:srgbClr val="627170"/>
                </a:solidFill>
                <a:latin typeface="Aptos"/>
              </a:defRPr>
            </a:pPr>
            <a:r>
              <a:t>pixel scale 0–255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737360"/>
            <a:ext cx="1874519" cy="1280160"/>
          </a:xfrm>
          <a:prstGeom prst="roundRect">
            <a:avLst>
              <a:gd name="adj" fmla="val 12000"/>
            </a:avLst>
          </a:prstGeom>
          <a:solidFill>
            <a:srgbClr val="F4E8B4"/>
          </a:solidFill>
          <a:ln>
            <a:solidFill>
              <a:srgbClr val="F4E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99248" y="1984248"/>
            <a:ext cx="164592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1B272A"/>
                </a:solidFill>
                <a:latin typeface="Aptos"/>
              </a:defRPr>
            </a:pPr>
            <a:r>
              <a:t>BATCH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2395728"/>
            <a:ext cx="164592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000" b="0">
                <a:solidFill>
                  <a:srgbClr val="627170"/>
                </a:solidFill>
                <a:latin typeface="Aptos"/>
              </a:defRPr>
            </a:pPr>
            <a:r>
              <a:t>batch size 32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51760" y="2377440"/>
            <a:ext cx="310896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937760" y="2377440"/>
            <a:ext cx="310896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23760" y="2377440"/>
            <a:ext cx="310896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75520" y="1737360"/>
            <a:ext cx="1508760" cy="128016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85248" y="1965960"/>
            <a:ext cx="128016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900" b="1">
                <a:solidFill>
                  <a:srgbClr val="D2E870"/>
                </a:solidFill>
                <a:latin typeface="Aptos"/>
              </a:defRPr>
            </a:pPr>
            <a:r>
              <a:t>MODEL-SPECIFIC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85248" y="2304288"/>
            <a:ext cx="1280160" cy="4114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scaling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474720"/>
            <a:ext cx="30175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1">
                <a:solidFill>
                  <a:srgbClr val="236953"/>
                </a:solidFill>
                <a:latin typeface="Aptos"/>
              </a:defRPr>
            </a:pPr>
            <a:r>
              <a:t>TRAINING AUGMENTATION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886200"/>
            <a:ext cx="1600200" cy="68580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4096512"/>
            <a:ext cx="141732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100" b="1">
                <a:solidFill>
                  <a:srgbClr val="1B272A"/>
                </a:solidFill>
                <a:latin typeface="Aptos"/>
              </a:defRPr>
            </a:pPr>
            <a:r>
              <a:t>Horizontal flip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06040" y="3886200"/>
            <a:ext cx="1600200" cy="685800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697480" y="4096512"/>
            <a:ext cx="141732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100" b="1">
                <a:solidFill>
                  <a:srgbClr val="1B272A"/>
                </a:solidFill>
                <a:latin typeface="Aptos"/>
              </a:defRPr>
            </a:pPr>
            <a:r>
              <a:t>Rotation ±10%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3886200"/>
            <a:ext cx="1600200" cy="685800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79" y="4096512"/>
            <a:ext cx="141732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100" b="1">
                <a:solidFill>
                  <a:srgbClr val="1B272A"/>
                </a:solidFill>
                <a:latin typeface="Aptos"/>
              </a:defRPr>
            </a:pPr>
            <a:r>
              <a:t>Zoom ±10%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3429000"/>
            <a:ext cx="46177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03720" y="3657600"/>
            <a:ext cx="406908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1">
                <a:solidFill>
                  <a:srgbClr val="EF7758"/>
                </a:solidFill>
                <a:latin typeface="Aptos"/>
              </a:defRPr>
            </a:pPr>
            <a:r>
              <a:t>KEY PREPROCESSING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041648"/>
            <a:ext cx="3977639" cy="6583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300" b="0">
                <a:solidFill>
                  <a:srgbClr val="1B272A"/>
                </a:solidFill>
                <a:latin typeface="Aptos"/>
              </a:defRPr>
            </a:pPr>
            <a:r>
              <a:t>Keep pixels on [0,255] in the shared loader; scaling is handled according to the chosen backbone’s input convention.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1506890"/>
            <a:ext cx="10424160" cy="2308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0">
                <a:solidFill>
                  <a:srgbClr val="627170"/>
                </a:solidFill>
                <a:latin typeface="Aptos"/>
              </a:defRPr>
            </a:pPr>
            <a:r>
              <a:rPr lang="en-US" dirty="0" smtClean="0"/>
              <a:t>750 images per class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457200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04 /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2600" b="1">
                <a:solidFill>
                  <a:srgbClr val="1B272A"/>
                </a:solidFill>
                <a:latin typeface="Aptos Display"/>
              </a:defRPr>
            </a:pPr>
            <a:r>
              <a:t>Two model paths: a CNN baseline and transfer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68580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937760" cy="434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55648"/>
            <a:ext cx="4389120" cy="29260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400" b="1">
                <a:solidFill>
                  <a:srgbClr val="236953"/>
                </a:solidFill>
                <a:latin typeface="Aptos"/>
              </a:defRPr>
            </a:pPr>
            <a:r>
              <a:t>BASELINE • CUSTOM CNN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267712"/>
            <a:ext cx="4160520" cy="384048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2350008"/>
            <a:ext cx="3886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100" b="1">
                <a:solidFill>
                  <a:srgbClr val="1B272A"/>
                </a:solidFill>
                <a:latin typeface="Aptos"/>
              </a:defRPr>
            </a:pPr>
            <a:r>
              <a:t>Conv 32 + Pool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834640"/>
            <a:ext cx="4160520" cy="384048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2916936"/>
            <a:ext cx="3886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100" b="1">
                <a:solidFill>
                  <a:srgbClr val="1B272A"/>
                </a:solidFill>
                <a:latin typeface="Aptos"/>
              </a:defRPr>
            </a:pPr>
            <a:r>
              <a:t>Conv 64 + Pool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401568"/>
            <a:ext cx="4160520" cy="384048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3483863"/>
            <a:ext cx="3886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100" b="1">
                <a:solidFill>
                  <a:srgbClr val="1B272A"/>
                </a:solidFill>
                <a:latin typeface="Aptos"/>
              </a:defRPr>
            </a:pPr>
            <a:r>
              <a:t>Conv 128 + Pool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968496"/>
            <a:ext cx="4160520" cy="384048"/>
          </a:xfrm>
          <a:prstGeom prst="roundRect">
            <a:avLst>
              <a:gd name="adj" fmla="val 12000"/>
            </a:avLst>
          </a:prstGeom>
          <a:solidFill>
            <a:srgbClr val="F4E8B4"/>
          </a:solidFill>
          <a:ln>
            <a:solidFill>
              <a:srgbClr val="F4E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4050791"/>
            <a:ext cx="3886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100" b="1">
                <a:solidFill>
                  <a:srgbClr val="1B272A"/>
                </a:solidFill>
                <a:latin typeface="Aptos"/>
              </a:defRPr>
            </a:pPr>
            <a:r>
              <a:t>Flatten → Dense 256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535424"/>
            <a:ext cx="4160520" cy="384048"/>
          </a:xfrm>
          <a:prstGeom prst="roundRect">
            <a:avLst>
              <a:gd name="adj" fmla="val 12000"/>
            </a:avLst>
          </a:prstGeom>
          <a:solidFill>
            <a:srgbClr val="E1DEF1"/>
          </a:solidFill>
          <a:ln>
            <a:solidFill>
              <a:srgbClr val="E1D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4617720"/>
            <a:ext cx="388620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100" b="1">
                <a:solidFill>
                  <a:srgbClr val="1B272A"/>
                </a:solidFill>
                <a:latin typeface="Aptos"/>
              </a:defRPr>
            </a:pPr>
            <a:r>
              <a:t>Softmax → 101 classes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508760"/>
            <a:ext cx="5349240" cy="434340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1755648"/>
            <a:ext cx="4663440" cy="29260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400" b="1">
                <a:solidFill>
                  <a:srgbClr val="D2E870"/>
                </a:solidFill>
                <a:latin typeface="Aptos"/>
              </a:defRPr>
            </a:pPr>
            <a:r>
              <a:t>ADVANCED • TRANSFER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240280"/>
            <a:ext cx="1920240" cy="438912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2359152"/>
            <a:ext cx="173736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000" b="1">
                <a:solidFill>
                  <a:srgbClr val="1B272A"/>
                </a:solidFill>
                <a:latin typeface="Aptos"/>
              </a:defRPr>
            </a:pPr>
            <a:r>
              <a:t>ImageNet backbone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340864"/>
            <a:ext cx="2468880" cy="21945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EfficientNetB0 or MobileNetV2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60920" y="2688336"/>
            <a:ext cx="0" cy="173736"/>
          </a:xfrm>
          <a:prstGeom prst="line">
            <a:avLst/>
          </a:prstGeom>
          <a:ln w="19050">
            <a:solidFill>
              <a:srgbClr val="D2E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0" y="2907792"/>
            <a:ext cx="1920240" cy="438912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3026664"/>
            <a:ext cx="173736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000" b="1">
                <a:solidFill>
                  <a:srgbClr val="1B272A"/>
                </a:solidFill>
                <a:latin typeface="Aptos"/>
              </a:defRPr>
            </a:pPr>
            <a:r>
              <a:t>Global average pooling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008376"/>
            <a:ext cx="2468880" cy="21945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Compact feature vector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60920" y="3355848"/>
            <a:ext cx="0" cy="173736"/>
          </a:xfrm>
          <a:prstGeom prst="line">
            <a:avLst/>
          </a:prstGeom>
          <a:ln w="19050">
            <a:solidFill>
              <a:srgbClr val="D2E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00800" y="3575304"/>
            <a:ext cx="1920240" cy="438912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694176"/>
            <a:ext cx="173736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000" b="1">
                <a:solidFill>
                  <a:srgbClr val="1B272A"/>
                </a:solidFill>
                <a:latin typeface="Aptos"/>
              </a:defRPr>
            </a:pPr>
            <a:r>
              <a:t>Dropout 0.3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675888"/>
            <a:ext cx="2468880" cy="21945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Regularization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60920" y="4023360"/>
            <a:ext cx="0" cy="173736"/>
          </a:xfrm>
          <a:prstGeom prst="line">
            <a:avLst/>
          </a:prstGeom>
          <a:ln w="19050">
            <a:solidFill>
              <a:srgbClr val="D2E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400800" y="4242816"/>
            <a:ext cx="1920240" cy="438912"/>
          </a:xfrm>
          <a:prstGeom prst="roundRect">
            <a:avLst>
              <a:gd name="adj" fmla="val 12000"/>
            </a:avLst>
          </a:prstGeom>
          <a:solidFill>
            <a:srgbClr val="F4E8B4"/>
          </a:solidFill>
          <a:ln>
            <a:solidFill>
              <a:srgbClr val="F4E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4361688"/>
            <a:ext cx="173736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000" b="1">
                <a:solidFill>
                  <a:srgbClr val="1B272A"/>
                </a:solidFill>
                <a:latin typeface="Aptos"/>
              </a:defRPr>
            </a:pPr>
            <a:r>
              <a:t>Dense softmax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343400"/>
            <a:ext cx="2468880" cy="21945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101-class scores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035040"/>
            <a:ext cx="1051560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0">
                <a:solidFill>
                  <a:srgbClr val="627170"/>
                </a:solidFill>
                <a:latin typeface="Aptos"/>
              </a:defRPr>
            </a:pPr>
            <a:r>
              <a:t>Two phases: freeze backbone for feature extraction → unfreeze top 20 layers for fine-tuning.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457200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05 /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2600" b="1">
                <a:solidFill>
                  <a:srgbClr val="1B272A"/>
                </a:solidFill>
                <a:latin typeface="Aptos Display"/>
              </a:defRPr>
            </a:pPr>
            <a:r>
              <a:t>Experiment design: controlled choices and saved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68580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46504"/>
            <a:ext cx="2185416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39112"/>
            <a:ext cx="2185416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600" b="1">
                <a:solidFill>
                  <a:srgbClr val="1B272A"/>
                </a:solidFill>
                <a:latin typeface="Aptos"/>
              </a:defRPr>
            </a:pPr>
            <a:r>
              <a:t>Food-101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2185416" cy="21945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0">
                <a:solidFill>
                  <a:srgbClr val="627170"/>
                </a:solidFill>
                <a:latin typeface="Aptos"/>
              </a:defRPr>
            </a:pPr>
            <a:r>
              <a:t>101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00200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93592" y="1746504"/>
            <a:ext cx="2185416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1">
                <a:solidFill>
                  <a:srgbClr val="5C91A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039112"/>
            <a:ext cx="2185416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600" b="1">
                <a:solidFill>
                  <a:srgbClr val="1B272A"/>
                </a:solidFill>
                <a:latin typeface="Aptos"/>
              </a:defRPr>
            </a:pPr>
            <a:r>
              <a:t>224 × 224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542032"/>
            <a:ext cx="2185416" cy="21945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0">
                <a:solidFill>
                  <a:srgbClr val="627170"/>
                </a:solidFill>
                <a:latin typeface="Aptos"/>
              </a:defRPr>
            </a:pPr>
            <a:r>
              <a:t>RGB • batch 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00200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1072" y="1746504"/>
            <a:ext cx="2185416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1">
                <a:solidFill>
                  <a:srgbClr val="EF7758"/>
                </a:solidFill>
                <a:latin typeface="Aptos"/>
              </a:defRPr>
            </a:pPr>
            <a:r>
              <a:t>BACKBONE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039112"/>
            <a:ext cx="2185416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600" b="1">
                <a:solidFill>
                  <a:srgbClr val="1B272A"/>
                </a:solidFill>
                <a:latin typeface="Aptos"/>
              </a:defRPr>
            </a:pPr>
            <a:r>
              <a:t>EfficientNetB0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542032"/>
            <a:ext cx="2185416" cy="21945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0">
                <a:solidFill>
                  <a:srgbClr val="627170"/>
                </a:solidFill>
                <a:latin typeface="Aptos"/>
              </a:defRPr>
            </a:pPr>
            <a:r>
              <a:t>Alt: MobileNetV2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600200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4E8B4"/>
          </a:solidFill>
          <a:ln>
            <a:solidFill>
              <a:srgbClr val="F4E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88552" y="1746504"/>
            <a:ext cx="2185416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1">
                <a:solidFill>
                  <a:srgbClr val="91701C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039112"/>
            <a:ext cx="2185416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600" b="1">
                <a:solidFill>
                  <a:srgbClr val="1B272A"/>
                </a:solidFill>
                <a:latin typeface="Aptos"/>
              </a:defRPr>
            </a:pPr>
            <a:r>
              <a:rPr dirty="0" smtClean="0"/>
              <a:t>15 </a:t>
            </a:r>
            <a:r>
              <a:rPr dirty="0"/>
              <a:t>+ 10 epochs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2542032"/>
            <a:ext cx="2185416" cy="219456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0">
                <a:solidFill>
                  <a:srgbClr val="627170"/>
                </a:solidFill>
                <a:latin typeface="Aptos"/>
              </a:defRPr>
            </a:pPr>
            <a:r>
              <a:t>feature + fine-tune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429000"/>
            <a:ext cx="5074920" cy="201168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685032"/>
            <a:ext cx="448056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1">
                <a:solidFill>
                  <a:srgbClr val="D2E870"/>
                </a:solidFill>
                <a:latin typeface="Aptos"/>
              </a:defRPr>
            </a:pPr>
            <a:r>
              <a:t>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96512"/>
            <a:ext cx="4434840" cy="9601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Aptos"/>
              </a:defRPr>
            </a:pPr>
            <a:r>
              <a:t>• Adam: 1e−3 head / initial training</a:t>
            </a:r>
            <a:br/>
            <a:r>
              <a:t>• Adam: 1e−5 fine-tuning</a:t>
            </a:r>
            <a:br/>
            <a:r>
              <a:t>• Sparse categorical cross-entropy</a:t>
            </a:r>
            <a:br/>
            <a:r>
              <a:t>• Fine-tune top 20 backbone layers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429000"/>
            <a:ext cx="51663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685032"/>
            <a:ext cx="457200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1">
                <a:solidFill>
                  <a:srgbClr val="236953"/>
                </a:solidFill>
                <a:latin typeface="Aptos"/>
              </a:defRPr>
            </a:pPr>
            <a:r>
              <a:t>TRACKING &amp; MODEL 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96512"/>
            <a:ext cx="4526280" cy="10058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0">
                <a:solidFill>
                  <a:srgbClr val="1B272A"/>
                </a:solidFill>
                <a:latin typeface="Aptos"/>
              </a:defRPr>
            </a:pPr>
            <a:r>
              <a:t>• JSON history: loss + accuracy by epoch</a:t>
            </a:r>
            <a:br/>
            <a:r>
              <a:t>• Checkpoint best val_accuracy</a:t>
            </a:r>
            <a:br/>
            <a:r>
              <a:t>• Early stopping on val_loss, patience 4</a:t>
            </a:r>
            <a:br/>
            <a:r>
              <a:t>• Final model chosen by best validation accuracy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457200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06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2600" b="1">
                <a:solidFill>
                  <a:srgbClr val="1B272A"/>
                </a:solidFill>
                <a:latin typeface="Aptos Display"/>
              </a:defRPr>
            </a:pPr>
            <a:r>
              <a:t>Evaluation: report measured performance, then explain errors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68580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926080" cy="361188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237744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1">
                <a:solidFill>
                  <a:srgbClr val="D2E870"/>
                </a:solidFill>
                <a:latin typeface="Aptos"/>
              </a:defRPr>
            </a:pPr>
            <a:r>
              <a:t>RECORDED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2468880" cy="6858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3300" b="1">
                <a:solidFill>
                  <a:srgbClr val="FFFFFF"/>
                </a:solidFill>
                <a:latin typeface="Aptos Display"/>
              </a:defRPr>
            </a:pPr>
            <a:r>
              <a:t>74.65%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2331720" cy="6400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0">
                <a:solidFill>
                  <a:srgbClr val="CDDDD4"/>
                </a:solidFill>
                <a:latin typeface="Aptos"/>
              </a:defRPr>
            </a:pPr>
            <a:r>
              <a:t>Final validation accuracy in saved training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160520"/>
            <a:ext cx="2240280" cy="420624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288536"/>
            <a:ext cx="2057400" cy="13716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000" b="1">
                <a:solidFill>
                  <a:srgbClr val="BC483E"/>
                </a:solidFill>
                <a:latin typeface="Aptos"/>
              </a:defRPr>
            </a:pPr>
            <a:r>
              <a:t>NOT TEST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508760"/>
            <a:ext cx="73152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1755648"/>
            <a:ext cx="667512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1">
                <a:solidFill>
                  <a:srgbClr val="236953"/>
                </a:solidFill>
                <a:latin typeface="Aptos"/>
              </a:defRPr>
            </a:pPr>
            <a:r>
              <a:t>EVALUATION SCRIPT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148840"/>
            <a:ext cx="6583680" cy="3200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0">
                <a:solidFill>
                  <a:srgbClr val="1B272A"/>
                </a:solidFill>
                <a:latin typeface="Aptos"/>
              </a:defRPr>
            </a:pPr>
            <a:r>
              <a:t>Top-1 • Top-5 • Macro F1 • per-class precision/recall/F1 • confusion matrix • latency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3017520"/>
            <a:ext cx="7315200" cy="210312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3273552"/>
            <a:ext cx="658368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1">
                <a:solidFill>
                  <a:srgbClr val="236953"/>
                </a:solidFill>
                <a:latin typeface="Aptos"/>
              </a:defRPr>
            </a:pPr>
            <a:r>
              <a:t>ERROR ANALYSIS WORKFLOW</a:t>
            </a:r>
          </a:p>
        </p:txBody>
      </p:sp>
      <p:sp>
        <p:nvSpPr>
          <p:cNvPr id="17" name="Oval 16"/>
          <p:cNvSpPr/>
          <p:nvPr/>
        </p:nvSpPr>
        <p:spPr>
          <a:xfrm>
            <a:off x="4279392" y="3749039"/>
            <a:ext cx="237744" cy="237744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79392" y="3808476"/>
            <a:ext cx="237744" cy="1097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771900"/>
            <a:ext cx="612648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t>Rank top confused class pairs</a:t>
            </a:r>
          </a:p>
        </p:txBody>
      </p:sp>
      <p:sp>
        <p:nvSpPr>
          <p:cNvPr id="20" name="Oval 19"/>
          <p:cNvSpPr/>
          <p:nvPr/>
        </p:nvSpPr>
        <p:spPr>
          <a:xfrm>
            <a:off x="4279392" y="4160520"/>
            <a:ext cx="237744" cy="237744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79392" y="4219956"/>
            <a:ext cx="237744" cy="1097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4183380"/>
            <a:ext cx="612648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t>Inspect high-confidence wrong predictions (&gt;85%)</a:t>
            </a:r>
          </a:p>
        </p:txBody>
      </p:sp>
      <p:sp>
        <p:nvSpPr>
          <p:cNvPr id="23" name="Oval 22"/>
          <p:cNvSpPr/>
          <p:nvPr/>
        </p:nvSpPr>
        <p:spPr>
          <a:xfrm>
            <a:off x="4279392" y="4572000"/>
            <a:ext cx="237744" cy="237744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79392" y="4631436"/>
            <a:ext cx="237744" cy="1097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4594860"/>
            <a:ext cx="612648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t>Review true label vs predicted label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457200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07 /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2600" b="1">
                <a:solidFill>
                  <a:srgbClr val="1B272A"/>
                </a:solidFill>
                <a:latin typeface="Aptos Display"/>
              </a:defRPr>
            </a:pPr>
            <a:r>
              <a:t>Deployment demo: saved model → Streamlit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68580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0392" y="1801368"/>
            <a:ext cx="310896" cy="310896"/>
          </a:xfrm>
          <a:prstGeom prst="ellipse">
            <a:avLst/>
          </a:prstGeom>
          <a:solidFill>
            <a:srgbClr val="5C91AC"/>
          </a:solidFill>
          <a:ln>
            <a:solidFill>
              <a:srgbClr val="5C91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888236"/>
            <a:ext cx="310896" cy="1097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10512"/>
            <a:ext cx="118872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1">
                <a:solidFill>
                  <a:srgbClr val="1B272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1554480" cy="3840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000" b="0">
                <a:solidFill>
                  <a:srgbClr val="1B272A"/>
                </a:solidFill>
                <a:latin typeface="Aptos"/>
              </a:defRPr>
            </a:pPr>
            <a:r>
              <a:t>Upload / sample / 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64592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90672" y="1801368"/>
            <a:ext cx="310896" cy="310896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0672" y="1888236"/>
            <a:ext cx="310896" cy="1097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10512"/>
            <a:ext cx="118872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1">
                <a:solidFill>
                  <a:srgbClr val="1B272A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331720"/>
            <a:ext cx="1554480" cy="3840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000" b="0">
                <a:solidFill>
                  <a:srgbClr val="1B272A"/>
                </a:solidFill>
                <a:latin typeface="Aptos"/>
              </a:defRPr>
            </a:pPr>
            <a:r>
              <a:t>Resize to 224 × 224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164592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330952" y="1801368"/>
            <a:ext cx="310896" cy="310896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30952" y="1888236"/>
            <a:ext cx="310896" cy="1097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810512"/>
            <a:ext cx="118872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1">
                <a:solidFill>
                  <a:srgbClr val="1B272A"/>
                </a:solidFill>
                <a:latin typeface="Aptos"/>
              </a:defRPr>
            </a:pPr>
            <a:r>
              <a:t>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331720"/>
            <a:ext cx="1554480" cy="3840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000" b="0">
                <a:solidFill>
                  <a:srgbClr val="1B272A"/>
                </a:solidFill>
                <a:latin typeface="Aptos"/>
              </a:defRPr>
            </a:pPr>
            <a:r>
              <a:t>Load .keras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64592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4E8B4"/>
          </a:solidFill>
          <a:ln>
            <a:solidFill>
              <a:srgbClr val="F4E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571232" y="1801368"/>
            <a:ext cx="310896" cy="310896"/>
          </a:xfrm>
          <a:prstGeom prst="ellipse">
            <a:avLst/>
          </a:prstGeom>
          <a:solidFill>
            <a:srgbClr val="91701C"/>
          </a:solidFill>
          <a:ln>
            <a:solidFill>
              <a:srgbClr val="917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71232" y="1888236"/>
            <a:ext cx="310896" cy="1097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1810512"/>
            <a:ext cx="1188720" cy="2011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1">
                <a:solidFill>
                  <a:srgbClr val="1B272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331720"/>
            <a:ext cx="1554480" cy="38404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000" b="0">
                <a:solidFill>
                  <a:srgbClr val="1B272A"/>
                </a:solidFill>
                <a:latin typeface="Aptos"/>
              </a:defRPr>
            </a:pPr>
            <a:r>
              <a:t>Ranked class scores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06040" y="2331720"/>
            <a:ext cx="292608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846320" y="2331720"/>
            <a:ext cx="292608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86600" y="2331720"/>
            <a:ext cx="292608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738360" y="164592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1938528"/>
            <a:ext cx="128016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100" b="1">
                <a:solidFill>
                  <a:srgbClr val="D2E870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2331720"/>
            <a:ext cx="128016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t>localhost:8501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520440"/>
            <a:ext cx="50292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3767328"/>
            <a:ext cx="438912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1">
                <a:solidFill>
                  <a:srgbClr val="236953"/>
                </a:solidFill>
                <a:latin typeface="Aptos"/>
              </a:defRPr>
            </a:pPr>
            <a:r>
              <a:t>LOCAL 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160520"/>
            <a:ext cx="4389120" cy="65836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400" b="1">
                <a:solidFill>
                  <a:srgbClr val="1B272A"/>
                </a:solidFill>
                <a:latin typeface="Aptos"/>
              </a:defRPr>
            </a:pPr>
            <a:r>
              <a:t>pip install -r requirements.txt</a:t>
            </a:r>
            <a:br/>
            <a:r>
              <a:t>streamlit run app/app.py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3520440"/>
            <a:ext cx="5166360" cy="182880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3767328"/>
            <a:ext cx="4526280" cy="25603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1">
                <a:solidFill>
                  <a:srgbClr val="D2E870"/>
                </a:solidFill>
                <a:latin typeface="Aptos"/>
              </a:defRPr>
            </a:pPr>
            <a:r>
              <a:t>DEPLOYMENT NOTES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160520"/>
            <a:ext cx="4480560" cy="7772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Aptos"/>
              </a:defRPr>
            </a:pPr>
            <a:r>
              <a:t>• Model and class_names.json loaded from disk</a:t>
            </a:r>
            <a:br/>
            <a:r>
              <a:t>• Inference does not retrain</a:t>
            </a:r>
            <a:br/>
            <a:r>
              <a:t>• Docker Compose supports containerized deployment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806440"/>
            <a:ext cx="1033272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0">
                <a:solidFill>
                  <a:srgbClr val="627170"/>
                </a:solidFill>
                <a:latin typeface="Aptos"/>
              </a:defRPr>
            </a:pPr>
            <a:r>
              <a:t>Live demo: upload image → inspect top predictions → open a saved failure case → explain the error.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46888"/>
            <a:ext cx="457200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08 /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66928"/>
            <a:ext cx="10972800" cy="56692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2600" b="1">
                <a:solidFill>
                  <a:srgbClr val="1B272A"/>
                </a:solidFill>
                <a:latin typeface="Aptos Display"/>
              </a:defRPr>
            </a:pPr>
            <a:r>
              <a:t>Risks, responsible use &amp; next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68580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09960" y="6519672"/>
            <a:ext cx="502920" cy="16459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063240" cy="3246120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260604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1">
                <a:solidFill>
                  <a:srgbClr val="EF7758"/>
                </a:solidFill>
                <a:latin typeface="Aptos"/>
              </a:defRPr>
            </a:pPr>
            <a:r>
              <a:t>MODEL RISKS</a:t>
            </a:r>
          </a:p>
        </p:txBody>
      </p:sp>
      <p:sp>
        <p:nvSpPr>
          <p:cNvPr id="8" name="Oval 7"/>
          <p:cNvSpPr/>
          <p:nvPr/>
        </p:nvSpPr>
        <p:spPr>
          <a:xfrm>
            <a:off x="978408" y="2514600"/>
            <a:ext cx="182880" cy="182880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560320"/>
            <a:ext cx="182880" cy="914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487168"/>
            <a:ext cx="2148840" cy="55399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rPr dirty="0"/>
              <a:t>Visually similar </a:t>
            </a:r>
            <a:r>
              <a:rPr dirty="0" smtClean="0"/>
              <a:t>dishes</a:t>
            </a:r>
            <a:endParaRPr lang="en-US" dirty="0" smtClean="0"/>
          </a:p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rPr lang="en-US" dirty="0" smtClean="0"/>
              <a:t>Chocolate related images are especially problematic</a:t>
            </a:r>
            <a:endParaRPr dirty="0"/>
          </a:p>
        </p:txBody>
      </p:sp>
      <p:sp>
        <p:nvSpPr>
          <p:cNvPr id="11" name="Oval 10"/>
          <p:cNvSpPr/>
          <p:nvPr/>
        </p:nvSpPr>
        <p:spPr>
          <a:xfrm>
            <a:off x="978408" y="3172968"/>
            <a:ext cx="182880" cy="182880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3218687"/>
            <a:ext cx="182880" cy="914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145536"/>
            <a:ext cx="2148840" cy="43891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rPr dirty="0"/>
              <a:t>Lighting, occlusion, camera angle</a:t>
            </a:r>
          </a:p>
        </p:txBody>
      </p:sp>
      <p:sp>
        <p:nvSpPr>
          <p:cNvPr id="14" name="Oval 13"/>
          <p:cNvSpPr/>
          <p:nvPr/>
        </p:nvSpPr>
        <p:spPr>
          <a:xfrm>
            <a:off x="978408" y="3831335"/>
            <a:ext cx="182880" cy="182880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3877055"/>
            <a:ext cx="182880" cy="914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803903"/>
            <a:ext cx="2148840" cy="43891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t>Domain shift beyond Food-101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1645920"/>
            <a:ext cx="3063240" cy="3246120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1938528"/>
            <a:ext cx="260604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1">
                <a:solidFill>
                  <a:srgbClr val="5C91AC"/>
                </a:solidFill>
                <a:latin typeface="Aptos"/>
              </a:defRPr>
            </a:pPr>
            <a:r>
              <a:t>RESPONSIBLE USE</a:t>
            </a:r>
          </a:p>
        </p:txBody>
      </p:sp>
      <p:sp>
        <p:nvSpPr>
          <p:cNvPr id="19" name="Oval 18"/>
          <p:cNvSpPr/>
          <p:nvPr/>
        </p:nvSpPr>
        <p:spPr>
          <a:xfrm>
            <a:off x="4407408" y="2514600"/>
            <a:ext cx="182880" cy="182880"/>
          </a:xfrm>
          <a:prstGeom prst="ellipse">
            <a:avLst/>
          </a:prstGeom>
          <a:solidFill>
            <a:srgbClr val="5C91AC"/>
          </a:solidFill>
          <a:ln>
            <a:solidFill>
              <a:srgbClr val="5C91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07408" y="2560320"/>
            <a:ext cx="182880" cy="914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2487168"/>
            <a:ext cx="2148840" cy="43891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rPr dirty="0"/>
              <a:t>Confidence ≠ certainty</a:t>
            </a:r>
          </a:p>
        </p:txBody>
      </p:sp>
      <p:sp>
        <p:nvSpPr>
          <p:cNvPr id="22" name="Oval 21"/>
          <p:cNvSpPr/>
          <p:nvPr/>
        </p:nvSpPr>
        <p:spPr>
          <a:xfrm>
            <a:off x="4407408" y="3172968"/>
            <a:ext cx="182880" cy="182880"/>
          </a:xfrm>
          <a:prstGeom prst="ellipse">
            <a:avLst/>
          </a:prstGeom>
          <a:solidFill>
            <a:srgbClr val="5C91AC"/>
          </a:solidFill>
          <a:ln>
            <a:solidFill>
              <a:srgbClr val="5C91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07408" y="3218687"/>
            <a:ext cx="182880" cy="914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3145536"/>
            <a:ext cx="2148840" cy="43891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rPr dirty="0"/>
              <a:t>No calorie or nutrition claims</a:t>
            </a:r>
          </a:p>
        </p:txBody>
      </p:sp>
      <p:sp>
        <p:nvSpPr>
          <p:cNvPr id="25" name="Oval 24"/>
          <p:cNvSpPr/>
          <p:nvPr/>
        </p:nvSpPr>
        <p:spPr>
          <a:xfrm>
            <a:off x="4407408" y="3831335"/>
            <a:ext cx="182880" cy="182880"/>
          </a:xfrm>
          <a:prstGeom prst="ellipse">
            <a:avLst/>
          </a:prstGeom>
          <a:solidFill>
            <a:srgbClr val="5C91AC"/>
          </a:solidFill>
          <a:ln>
            <a:solidFill>
              <a:srgbClr val="5C91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07408" y="3877055"/>
            <a:ext cx="182880" cy="914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3803903"/>
            <a:ext cx="2148840" cy="43891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t>Do not use for medical decisions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1645920"/>
            <a:ext cx="3063240" cy="324612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18120" y="1938528"/>
            <a:ext cx="2606040" cy="27432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200" b="1">
                <a:solidFill>
                  <a:srgbClr val="236953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30" name="Oval 29"/>
          <p:cNvSpPr/>
          <p:nvPr/>
        </p:nvSpPr>
        <p:spPr>
          <a:xfrm>
            <a:off x="7836408" y="2514600"/>
            <a:ext cx="182880" cy="182880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36408" y="2560320"/>
            <a:ext cx="182880" cy="914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2487168"/>
            <a:ext cx="2148840" cy="384721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rPr lang="en-US" dirty="0" smtClean="0"/>
              <a:t>Need test accuracy</a:t>
            </a:r>
          </a:p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rPr dirty="0" smtClean="0"/>
              <a:t>Evaluate </a:t>
            </a:r>
            <a:r>
              <a:rPr dirty="0"/>
              <a:t>on real-world photos</a:t>
            </a:r>
          </a:p>
        </p:txBody>
      </p:sp>
      <p:sp>
        <p:nvSpPr>
          <p:cNvPr id="33" name="Oval 32"/>
          <p:cNvSpPr/>
          <p:nvPr/>
        </p:nvSpPr>
        <p:spPr>
          <a:xfrm>
            <a:off x="7836408" y="3172968"/>
            <a:ext cx="182880" cy="182880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36408" y="3218687"/>
            <a:ext cx="182880" cy="914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3145536"/>
            <a:ext cx="2148840" cy="43891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t>Calibrate confidence + monitor drift</a:t>
            </a:r>
          </a:p>
        </p:txBody>
      </p:sp>
      <p:sp>
        <p:nvSpPr>
          <p:cNvPr id="36" name="Oval 35"/>
          <p:cNvSpPr/>
          <p:nvPr/>
        </p:nvSpPr>
        <p:spPr>
          <a:xfrm>
            <a:off x="7836408" y="3831335"/>
            <a:ext cx="182880" cy="182880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36408" y="3877055"/>
            <a:ext cx="182880" cy="9144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448" y="3803903"/>
            <a:ext cx="2148840" cy="43891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rPr dirty="0"/>
              <a:t>Optimize latency and deployment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257800"/>
            <a:ext cx="9921240" cy="658368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5840" y="5449824"/>
            <a:ext cx="9326880" cy="22860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Priority: generate reliable held-out metrics, inspect failures, then validate on images outside the training domain.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172200"/>
            <a:ext cx="10424160" cy="18288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defRPr sz="1000" b="0">
                <a:solidFill>
                  <a:srgbClr val="627170"/>
                </a:solidFill>
                <a:latin typeface="Aptos"/>
              </a:defRPr>
            </a:pPr>
            <a:r>
              <a:t>Scope remains food-category recognition only; nutrition and health inference are explicitly excluded.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01 /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The problem: recognize a dish from pixels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475488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400" b="1">
                <a:solidFill>
                  <a:srgbClr val="1B272A"/>
                </a:solidFill>
                <a:latin typeface="Aptos Display"/>
              </a:defRPr>
            </a:pPr>
            <a:r>
              <a:t>One image in. A ranked prediction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31720"/>
            <a:ext cx="438912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0">
                <a:solidFill>
                  <a:srgbClr val="627170"/>
                </a:solidFill>
                <a:latin typeface="Aptos"/>
              </a:defRPr>
            </a:pPr>
            <a:r>
              <a:t>The model maps an RGB food photo to one of 101 Food-101 categories.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703320"/>
            <a:ext cx="1417320" cy="141732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78865" y="3859225"/>
            <a:ext cx="1105509" cy="1105509"/>
          </a:xfrm>
          <a:prstGeom prst="ellipse">
            <a:avLst/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sosceles Triangle 9"/>
          <p:cNvSpPr/>
          <p:nvPr/>
        </p:nvSpPr>
        <p:spPr>
          <a:xfrm rot="10800000">
            <a:off x="1177290" y="3944264"/>
            <a:ext cx="708660" cy="822045"/>
          </a:xfrm>
          <a:prstGeom prst="triangle">
            <a:avLst/>
          </a:prstGeom>
          <a:solidFill>
            <a:srgbClr val="F4C34B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75714" y="4199381"/>
            <a:ext cx="113385" cy="113385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602486" y="4326940"/>
            <a:ext cx="113385" cy="113385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474927" y="4511192"/>
            <a:ext cx="113385" cy="113385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23160" y="4041648"/>
            <a:ext cx="11887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INPUT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20440" y="4343400"/>
            <a:ext cx="1051560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709160" y="1828800"/>
            <a:ext cx="27432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83480" y="2103120"/>
            <a:ext cx="2194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MODEL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606040"/>
            <a:ext cx="21945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500" b="1">
                <a:solidFill>
                  <a:srgbClr val="1B272A"/>
                </a:solidFill>
                <a:latin typeface="Aptos Display"/>
              </a:defRPr>
            </a:pPr>
            <a:r>
              <a:t>Pizza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090672"/>
            <a:ext cx="2103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27170"/>
                </a:solidFill>
                <a:latin typeface="Aptos"/>
              </a:defRPr>
            </a:pPr>
            <a:r>
              <a:t>Top class • confidence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3566160"/>
            <a:ext cx="2057400" cy="155448"/>
          </a:xfrm>
          <a:prstGeom prst="roundRect">
            <a:avLst>
              <a:gd name="adj" fmla="val 12000"/>
            </a:avLst>
          </a:prstGeom>
          <a:solidFill>
            <a:srgbClr val="E6EAE1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983480" y="3566160"/>
            <a:ext cx="1645920" cy="155448"/>
          </a:xfrm>
          <a:prstGeom prst="roundRect">
            <a:avLst>
              <a:gd name="adj" fmla="val 12000"/>
            </a:avLst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3480" y="3822191"/>
            <a:ext cx="21031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0">
                <a:solidFill>
                  <a:srgbClr val="627170"/>
                </a:solidFill>
                <a:latin typeface="Aptos"/>
              </a:defRPr>
            </a:pPr>
            <a:r>
              <a:t>Illustrative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434840"/>
            <a:ext cx="2103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1B272A"/>
                </a:solidFill>
                <a:latin typeface="Aptos"/>
              </a:defRPr>
            </a:pPr>
            <a:r>
              <a:t>Top-5 labels</a:t>
            </a:r>
            <a:br/>
            <a:r>
              <a:t>for useful alternatives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178308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5320" y="1993392"/>
            <a:ext cx="28346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236953"/>
                </a:solidFill>
                <a:latin typeface="Aptos"/>
              </a:defRPr>
            </a:pPr>
            <a:r>
              <a:t>IN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359152"/>
            <a:ext cx="2880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600" b="1">
                <a:solidFill>
                  <a:srgbClr val="1B272A"/>
                </a:solidFill>
                <a:latin typeface="Aptos"/>
              </a:defRPr>
            </a:pPr>
            <a:r>
              <a:t>Dish-category classification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337560"/>
            <a:ext cx="3429000" cy="1325880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3547872"/>
            <a:ext cx="28346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BC483E"/>
                </a:solidFill>
                <a:latin typeface="Aptos"/>
              </a:defRPr>
            </a:pPr>
            <a:r>
              <a:t>OUT OF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913632"/>
            <a:ext cx="28803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1">
                <a:solidFill>
                  <a:srgbClr val="1B272A"/>
                </a:solidFill>
                <a:latin typeface="Aptos"/>
              </a:defRPr>
            </a:pPr>
            <a:r>
              <a:t>Calories • nutrition • medical advice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5074920"/>
            <a:ext cx="3200400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65592" y="5116068"/>
            <a:ext cx="305409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236953"/>
                </a:solidFill>
                <a:latin typeface="Aptos"/>
              </a:defRPr>
            </a:pPr>
            <a:r>
              <a:t>SUCCESS = USEFUL + REPRODUCIBLE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02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Dataset: diversity is the learning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274320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3100" b="1">
                <a:solidFill>
                  <a:srgbClr val="236953"/>
                </a:solidFill>
                <a:latin typeface="Aptos Display"/>
              </a:defRPr>
            </a:pPr>
            <a:r>
              <a:t>101,000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627170"/>
                </a:solidFill>
                <a:latin typeface="Aptos"/>
              </a:defRPr>
            </a:pPr>
            <a:r>
              <a:t>images in Food-101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572768"/>
            <a:ext cx="210312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3100" b="1">
                <a:solidFill>
                  <a:srgbClr val="EF7758"/>
                </a:solidFill>
                <a:latin typeface="Aptos Display"/>
              </a:defRPr>
            </a:pPr>
            <a:r>
              <a:t>101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267712"/>
            <a:ext cx="2194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627170"/>
                </a:solidFill>
                <a:latin typeface="Aptos"/>
              </a:defRPr>
            </a:pPr>
            <a:r>
              <a:t>food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164592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05840" y="3182112"/>
            <a:ext cx="1188720" cy="118872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6599" y="3312871"/>
            <a:ext cx="927201" cy="927201"/>
          </a:xfrm>
          <a:prstGeom prst="ellipse">
            <a:avLst/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1303020" y="3384194"/>
            <a:ext cx="594360" cy="689457"/>
          </a:xfrm>
          <a:prstGeom prst="triangle">
            <a:avLst/>
          </a:prstGeom>
          <a:solidFill>
            <a:srgbClr val="F4C34B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69440" y="3598164"/>
            <a:ext cx="95097" cy="95097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59636" y="3705148"/>
            <a:ext cx="95097" cy="95097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552651" y="3859682"/>
            <a:ext cx="95097" cy="95097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4590288"/>
            <a:ext cx="1325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EF7758"/>
                </a:solidFill>
                <a:latin typeface="Aptos"/>
              </a:defRPr>
            </a:pPr>
            <a:r>
              <a:t>PIZZA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971800"/>
            <a:ext cx="164592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971800" y="3182112"/>
            <a:ext cx="1188720" cy="118872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102559" y="3312871"/>
            <a:ext cx="927201" cy="927201"/>
          </a:xfrm>
          <a:prstGeom prst="ellipse">
            <a:avLst/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268980" y="3538728"/>
            <a:ext cx="225856" cy="225856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06724" y="3443630"/>
            <a:ext cx="225856" cy="225856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661257" y="3681374"/>
            <a:ext cx="225856" cy="225856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364077" y="3800246"/>
            <a:ext cx="225856" cy="225856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589934" y="3883456"/>
            <a:ext cx="225856" cy="225856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07792" y="4590288"/>
            <a:ext cx="1325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236953"/>
                </a:solidFill>
                <a:latin typeface="Aptos"/>
              </a:defRPr>
            </a:pPr>
            <a:r>
              <a:t>SALAD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59" y="2971800"/>
            <a:ext cx="164592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937759" y="3182112"/>
            <a:ext cx="1188720" cy="118872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068519" y="3312871"/>
            <a:ext cx="927201" cy="927201"/>
          </a:xfrm>
          <a:prstGeom prst="ellipse">
            <a:avLst/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199278" y="3574389"/>
            <a:ext cx="665683" cy="380390"/>
          </a:xfrm>
          <a:prstGeom prst="roundRect">
            <a:avLst>
              <a:gd name="adj" fmla="val 12000"/>
            </a:avLst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163616" y="3514953"/>
            <a:ext cx="737006" cy="1069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389473" y="3633825"/>
            <a:ext cx="83210" cy="83210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532120" y="3633825"/>
            <a:ext cx="83210" cy="83210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674766" y="3633825"/>
            <a:ext cx="83210" cy="83210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73751" y="4590288"/>
            <a:ext cx="1325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5C91AC"/>
                </a:solidFill>
                <a:latin typeface="Aptos"/>
              </a:defRPr>
            </a:pPr>
            <a:r>
              <a:t>SOUP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19" y="2971800"/>
            <a:ext cx="164592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903719" y="3182112"/>
            <a:ext cx="1188720" cy="118872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034479" y="3312871"/>
            <a:ext cx="927201" cy="927201"/>
          </a:xfrm>
          <a:prstGeom prst="ellipse">
            <a:avLst/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189012" y="3467404"/>
            <a:ext cx="618134" cy="618134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319771" y="3550615"/>
            <a:ext cx="95097" cy="95097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521854" y="3681374"/>
            <a:ext cx="95097" cy="95097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39711" y="4590288"/>
            <a:ext cx="13258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F4C34B"/>
                </a:solidFill>
                <a:latin typeface="Aptos"/>
              </a:defRPr>
            </a:pPr>
            <a:r>
              <a:t>DISH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1600200"/>
            <a:ext cx="2606040" cy="365760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06840" y="1901952"/>
            <a:ext cx="2057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D2E870"/>
                </a:solidFill>
                <a:latin typeface="Aptos"/>
              </a:defRPr>
            </a:pPr>
            <a:r>
              <a:t>INPUT PIPELINE</a:t>
            </a:r>
          </a:p>
        </p:txBody>
      </p:sp>
      <p:sp>
        <p:nvSpPr>
          <p:cNvPr id="45" name="Oval 44"/>
          <p:cNvSpPr/>
          <p:nvPr/>
        </p:nvSpPr>
        <p:spPr>
          <a:xfrm>
            <a:off x="9015984" y="2423160"/>
            <a:ext cx="292608" cy="292608"/>
          </a:xfrm>
          <a:prstGeom prst="ellipse">
            <a:avLst/>
          </a:prstGeom>
          <a:solidFill>
            <a:srgbClr val="D2E870"/>
          </a:solidFill>
          <a:ln>
            <a:solidFill>
              <a:srgbClr val="D2E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15984" y="2487168"/>
            <a:ext cx="29260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12212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36608" y="2464308"/>
            <a:ext cx="1600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RGB image</a:t>
            </a:r>
          </a:p>
        </p:txBody>
      </p:sp>
      <p:sp>
        <p:nvSpPr>
          <p:cNvPr id="48" name="Oval 47"/>
          <p:cNvSpPr/>
          <p:nvPr/>
        </p:nvSpPr>
        <p:spPr>
          <a:xfrm>
            <a:off x="9015984" y="3044952"/>
            <a:ext cx="292608" cy="292608"/>
          </a:xfrm>
          <a:prstGeom prst="ellipse">
            <a:avLst/>
          </a:prstGeom>
          <a:solidFill>
            <a:srgbClr val="3E5B50"/>
          </a:solidFill>
          <a:ln>
            <a:solidFill>
              <a:srgbClr val="3E5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015984" y="3108960"/>
            <a:ext cx="29260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36608" y="3086100"/>
            <a:ext cx="1600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Resize 224 × 224</a:t>
            </a:r>
          </a:p>
        </p:txBody>
      </p:sp>
      <p:sp>
        <p:nvSpPr>
          <p:cNvPr id="51" name="Oval 50"/>
          <p:cNvSpPr/>
          <p:nvPr/>
        </p:nvSpPr>
        <p:spPr>
          <a:xfrm>
            <a:off x="9015984" y="3666744"/>
            <a:ext cx="292608" cy="292608"/>
          </a:xfrm>
          <a:prstGeom prst="ellipse">
            <a:avLst/>
          </a:prstGeom>
          <a:solidFill>
            <a:srgbClr val="3E5B50"/>
          </a:solidFill>
          <a:ln>
            <a:solidFill>
              <a:srgbClr val="3E5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15984" y="3730752"/>
            <a:ext cx="29260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36608" y="3707891"/>
            <a:ext cx="1600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Augment training data</a:t>
            </a:r>
          </a:p>
        </p:txBody>
      </p:sp>
      <p:sp>
        <p:nvSpPr>
          <p:cNvPr id="54" name="Oval 53"/>
          <p:cNvSpPr/>
          <p:nvPr/>
        </p:nvSpPr>
        <p:spPr>
          <a:xfrm>
            <a:off x="9015984" y="4288536"/>
            <a:ext cx="292608" cy="292608"/>
          </a:xfrm>
          <a:prstGeom prst="ellipse">
            <a:avLst/>
          </a:prstGeom>
          <a:solidFill>
            <a:srgbClr val="3E5B50"/>
          </a:solidFill>
          <a:ln>
            <a:solidFill>
              <a:srgbClr val="3E5B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015984" y="4352544"/>
            <a:ext cx="29260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6608" y="4329683"/>
            <a:ext cx="1600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Aptos"/>
              </a:defRPr>
            </a:pPr>
            <a:r>
              <a:t>Tensor input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5669280"/>
            <a:ext cx="10332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627170"/>
                </a:solidFill>
                <a:latin typeface="Aptos"/>
              </a:defRPr>
            </a:pPr>
            <a:r>
              <a:t>Training augmentation helps with variation; it does not eliminate real-world domain shift.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03 /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Model strategy: reuse learned visual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10607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0">
                <a:solidFill>
                  <a:srgbClr val="627170"/>
                </a:solidFill>
                <a:latin typeface="Aptos"/>
              </a:defRPr>
            </a:pPr>
            <a:r>
              <a:t>Transfer learning reduces the need to learn visual features from scratch.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828800" cy="1874519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53312" y="2670048"/>
            <a:ext cx="566928" cy="566928"/>
          </a:xfrm>
          <a:prstGeom prst="ellipse">
            <a:avLst/>
          </a:prstGeom>
          <a:solidFill>
            <a:srgbClr val="5C91AC"/>
          </a:solidFill>
          <a:ln>
            <a:solidFill>
              <a:srgbClr val="5C91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53312" y="2834640"/>
            <a:ext cx="56692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0440"/>
            <a:ext cx="15544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1">
                <a:solidFill>
                  <a:srgbClr val="1B272A"/>
                </a:solidFill>
                <a:latin typeface="Aptos"/>
              </a:defRPr>
            </a:pPr>
            <a:r>
              <a:t>PRETRAINED</a:t>
            </a:r>
            <a:br/>
            <a:r>
              <a:t>BACKBONE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423160"/>
            <a:ext cx="1828800" cy="1874519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93592" y="2670048"/>
            <a:ext cx="566928" cy="56692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3592" y="2834640"/>
            <a:ext cx="56692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20440"/>
            <a:ext cx="15544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1">
                <a:solidFill>
                  <a:srgbClr val="1B272A"/>
                </a:solidFill>
                <a:latin typeface="Aptos"/>
              </a:defRPr>
            </a:pPr>
            <a:r>
              <a:t>FEATURE</a:t>
            </a:r>
            <a:br/>
            <a:r>
              <a:t>EXTRACTION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2423160"/>
            <a:ext cx="1828800" cy="1874519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33872" y="2670048"/>
            <a:ext cx="566928" cy="566928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33872" y="2834640"/>
            <a:ext cx="56692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520440"/>
            <a:ext cx="15544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1">
                <a:solidFill>
                  <a:srgbClr val="1B272A"/>
                </a:solidFill>
                <a:latin typeface="Aptos"/>
              </a:defRPr>
            </a:pPr>
            <a:r>
              <a:t>FINE-</a:t>
            </a:r>
            <a:br/>
            <a:r>
              <a:t>TUNING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423160"/>
            <a:ext cx="1828800" cy="1874519"/>
          </a:xfrm>
          <a:prstGeom prst="roundRect">
            <a:avLst>
              <a:gd name="adj" fmla="val 12000"/>
            </a:avLst>
          </a:prstGeom>
          <a:solidFill>
            <a:srgbClr val="F4E8B4"/>
          </a:solidFill>
          <a:ln>
            <a:solidFill>
              <a:srgbClr val="F4E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074152" y="2670048"/>
            <a:ext cx="566928" cy="566928"/>
          </a:xfrm>
          <a:prstGeom prst="ellipse">
            <a:avLst/>
          </a:prstGeom>
          <a:solidFill>
            <a:srgbClr val="96701C"/>
          </a:solidFill>
          <a:ln>
            <a:solidFill>
              <a:srgbClr val="967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74152" y="2834640"/>
            <a:ext cx="56692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520440"/>
            <a:ext cx="15544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400" b="1">
                <a:solidFill>
                  <a:srgbClr val="1B272A"/>
                </a:solidFill>
                <a:latin typeface="Aptos"/>
              </a:defRPr>
            </a:pPr>
            <a:r>
              <a:t>CLASS</a:t>
            </a:r>
            <a:br/>
            <a:r>
              <a:t>PROBABILITIES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33472" y="3337560"/>
            <a:ext cx="292607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73752" y="3337560"/>
            <a:ext cx="292608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114032" y="3337560"/>
            <a:ext cx="292608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38360" y="2423160"/>
            <a:ext cx="1645920" cy="1874519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21240" y="2724912"/>
            <a:ext cx="12801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D2E870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200400"/>
            <a:ext cx="128016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101</a:t>
            </a:r>
            <a:br/>
            <a:r>
              <a:t>classes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92040"/>
            <a:ext cx="1065276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102352"/>
            <a:ext cx="10149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500" b="1">
                <a:solidFill>
                  <a:srgbClr val="236953"/>
                </a:solidFill>
                <a:latin typeface="Aptos"/>
              </a:defRPr>
            </a:pPr>
            <a:r>
              <a:t>Saved artifacts: best_transfer_model.keras  +  class_names.json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943600"/>
            <a:ext cx="10515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627170"/>
                </a:solidFill>
                <a:latin typeface="Aptos"/>
              </a:defRPr>
            </a:pPr>
            <a:r>
              <a:t>Baseline: custom CNN   •   Transfer model: pretrained backbone + fine-tuning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04 /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Training evidence — and what it does not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00400" cy="361188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25603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D2E870"/>
                </a:solidFill>
                <a:latin typeface="Aptos"/>
              </a:defRPr>
            </a:pPr>
            <a:r>
              <a:t>RECORDED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651760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t>74.65%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49039"/>
            <a:ext cx="256032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0">
                <a:solidFill>
                  <a:srgbClr val="D0DFD7"/>
                </a:solidFill>
                <a:latin typeface="Aptos"/>
              </a:defRPr>
            </a:pPr>
            <a:r>
              <a:t>Final validation accuracy</a:t>
            </a:r>
            <a:br/>
            <a:r>
              <a:t>from saved training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617720"/>
            <a:ext cx="2194560" cy="310896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4658868"/>
            <a:ext cx="2048255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BC483E"/>
                </a:solidFill>
                <a:latin typeface="Aptos"/>
              </a:defRPr>
            </a:pPr>
            <a:r>
              <a:t>NOT TEST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6995160" cy="96012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45152" y="2039112"/>
            <a:ext cx="384048" cy="38404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2139696"/>
            <a:ext cx="384048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929384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1">
                <a:solidFill>
                  <a:srgbClr val="1B272A"/>
                </a:solidFill>
                <a:latin typeface="Aptos"/>
              </a:defRPr>
            </a:pPr>
            <a:r>
              <a:t>What it says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929384"/>
            <a:ext cx="38404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1B272A"/>
                </a:solidFill>
                <a:latin typeface="Aptos"/>
              </a:defRPr>
            </a:pPr>
            <a:r>
              <a:t>The model learned useful visual patterns.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017520"/>
            <a:ext cx="6995160" cy="960120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645152" y="3273552"/>
            <a:ext cx="384048" cy="384048"/>
          </a:xfrm>
          <a:prstGeom prst="ellipse">
            <a:avLst/>
          </a:prstGeom>
          <a:solidFill>
            <a:srgbClr val="BC483E"/>
          </a:solidFill>
          <a:ln>
            <a:solidFill>
              <a:srgbClr val="BC4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45152" y="3374136"/>
            <a:ext cx="384048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3163824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1">
                <a:solidFill>
                  <a:srgbClr val="1B272A"/>
                </a:solidFill>
                <a:latin typeface="Aptos"/>
              </a:defRPr>
            </a:pPr>
            <a:r>
              <a:t>What it doesn't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163824"/>
            <a:ext cx="38404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1B272A"/>
                </a:solidFill>
                <a:latin typeface="Aptos"/>
              </a:defRPr>
            </a:pPr>
            <a:r>
              <a:t>It is not a fresh held-out test result.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251960"/>
            <a:ext cx="6995160" cy="960120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45152" y="4507992"/>
            <a:ext cx="384048" cy="384048"/>
          </a:xfrm>
          <a:prstGeom prst="ellipse">
            <a:avLst/>
          </a:prstGeom>
          <a:solidFill>
            <a:srgbClr val="5C91AC"/>
          </a:solidFill>
          <a:ln>
            <a:solidFill>
              <a:srgbClr val="5C91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45152" y="4608576"/>
            <a:ext cx="384048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4398264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1">
                <a:solidFill>
                  <a:srgbClr val="1B272A"/>
                </a:solidFill>
                <a:latin typeface="Aptos"/>
              </a:defRPr>
            </a:pPr>
            <a:r>
              <a:t>Next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398264"/>
            <a:ext cx="38404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1B272A"/>
                </a:solidFill>
                <a:latin typeface="Aptos"/>
              </a:defRPr>
            </a:pPr>
            <a:r>
              <a:t>Run evaluation and report real metrics.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715000"/>
            <a:ext cx="6766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627170"/>
                </a:solidFill>
                <a:latin typeface="Aptos"/>
              </a:defRPr>
            </a:pPr>
            <a:r>
              <a:t>Keep validation, test, and production performance clearly separated.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05 /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Streamlit: three ways to test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667512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E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6675120" cy="50292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737360"/>
            <a:ext cx="109728" cy="109728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15568" y="1737360"/>
            <a:ext cx="109728" cy="109728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16736" y="1737360"/>
            <a:ext cx="109728" cy="109728"/>
          </a:xfrm>
          <a:prstGeom prst="ellipse">
            <a:avLst/>
          </a:prstGeom>
          <a:solidFill>
            <a:srgbClr val="D2E870"/>
          </a:solidFill>
          <a:ln>
            <a:solidFill>
              <a:srgbClr val="D2E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1700784"/>
            <a:ext cx="4114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"/>
              </a:defRPr>
            </a:pPr>
            <a:r>
              <a:t>BiteID  /  Smart Food Recognition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29260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400" b="1">
                <a:solidFill>
                  <a:srgbClr val="1B272A"/>
                </a:solidFill>
                <a:latin typeface="Aptos"/>
              </a:defRPr>
            </a:pPr>
            <a:r>
              <a:t>Choose an input mode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788920"/>
            <a:ext cx="6080760" cy="713232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3000" y="2944368"/>
            <a:ext cx="384048" cy="38404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3044952"/>
            <a:ext cx="384048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898648"/>
            <a:ext cx="19202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B272A"/>
                </a:solidFill>
                <a:latin typeface="Aptos"/>
              </a:defRPr>
            </a:pPr>
            <a:r>
              <a:t>Upload image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935224"/>
            <a:ext cx="2926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27170"/>
                </a:solidFill>
                <a:latin typeface="Aptos"/>
              </a:defRPr>
            </a:pPr>
            <a:r>
              <a:t>Bring your own photo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703320"/>
            <a:ext cx="6080760" cy="713232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43000" y="3858768"/>
            <a:ext cx="384048" cy="38404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3959352"/>
            <a:ext cx="384048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813048"/>
            <a:ext cx="19202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B272A"/>
                </a:solidFill>
                <a:latin typeface="Aptos"/>
              </a:defRPr>
            </a:pPr>
            <a:r>
              <a:t>Sample image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849624"/>
            <a:ext cx="2926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27170"/>
                </a:solidFill>
                <a:latin typeface="Aptos"/>
              </a:defRPr>
            </a:pPr>
            <a:r>
              <a:t>Repeatable demo input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617720"/>
            <a:ext cx="6080760" cy="713232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43000" y="4773168"/>
            <a:ext cx="384048" cy="384048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4873752"/>
            <a:ext cx="384048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727448"/>
            <a:ext cx="192024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B272A"/>
                </a:solidFill>
                <a:latin typeface="Aptos"/>
              </a:defRPr>
            </a:pPr>
            <a:r>
              <a:t>Known failure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764024"/>
            <a:ext cx="29260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27170"/>
                </a:solidFill>
                <a:latin typeface="Aptos"/>
              </a:defRPr>
            </a:pPr>
            <a:r>
              <a:t>Inspect a misclassification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1783080"/>
            <a:ext cx="33832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236953"/>
                </a:solidFill>
                <a:latin typeface="Aptos"/>
              </a:defRPr>
            </a:pPr>
            <a:r>
              <a:t>DEMO STORY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28431" y="2496312"/>
            <a:ext cx="0" cy="475488"/>
          </a:xfrm>
          <a:prstGeom prst="line">
            <a:avLst/>
          </a:prstGeom>
          <a:ln w="25400">
            <a:solidFill>
              <a:srgbClr val="B9C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882127" y="2331720"/>
            <a:ext cx="292608" cy="29260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2313432"/>
            <a:ext cx="21945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B272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596896"/>
            <a:ext cx="2743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27170"/>
                </a:solidFill>
                <a:latin typeface="Aptos"/>
              </a:defRPr>
            </a:pPr>
            <a:r>
              <a:t>Photo enters the app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028431" y="3300984"/>
            <a:ext cx="0" cy="475488"/>
          </a:xfrm>
          <a:prstGeom prst="line">
            <a:avLst/>
          </a:prstGeom>
          <a:ln w="25400">
            <a:solidFill>
              <a:srgbClr val="B9C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882127" y="3136391"/>
            <a:ext cx="292608" cy="29260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66760" y="3118103"/>
            <a:ext cx="21945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B272A"/>
                </a:solidFill>
                <a:latin typeface="Aptos"/>
              </a:defRPr>
            </a:pPr>
            <a:r>
              <a:t>Inference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401568"/>
            <a:ext cx="2743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27170"/>
                </a:solidFill>
                <a:latin typeface="Aptos"/>
              </a:defRPr>
            </a:pPr>
            <a:r>
              <a:t>Saved model predicts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028431" y="4105655"/>
            <a:ext cx="0" cy="475489"/>
          </a:xfrm>
          <a:prstGeom prst="line">
            <a:avLst/>
          </a:prstGeom>
          <a:ln w="25400">
            <a:solidFill>
              <a:srgbClr val="B9C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882127" y="3941063"/>
            <a:ext cx="292608" cy="29260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66760" y="3922776"/>
            <a:ext cx="21945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B272A"/>
                </a:solidFill>
                <a:latin typeface="Aptos"/>
              </a:defRPr>
            </a:pPr>
            <a:r>
              <a:t>Explanation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206240"/>
            <a:ext cx="2743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27170"/>
                </a:solidFill>
                <a:latin typeface="Aptos"/>
              </a:defRPr>
            </a:pPr>
            <a:r>
              <a:t>Ranked labels + confidence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028431" y="4910327"/>
            <a:ext cx="0" cy="475489"/>
          </a:xfrm>
          <a:prstGeom prst="line">
            <a:avLst/>
          </a:prstGeom>
          <a:ln w="25400">
            <a:solidFill>
              <a:srgbClr val="B9C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7882127" y="4745736"/>
            <a:ext cx="292608" cy="292608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66760" y="4727448"/>
            <a:ext cx="219456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1">
                <a:solidFill>
                  <a:srgbClr val="1B272A"/>
                </a:solidFill>
                <a:latin typeface="Aptos"/>
              </a:defRPr>
            </a:pPr>
            <a:r>
              <a:t>Learning loop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66760" y="5010912"/>
            <a:ext cx="27432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627170"/>
                </a:solidFill>
                <a:latin typeface="Aptos"/>
              </a:defRPr>
            </a:pPr>
            <a:r>
              <a:t>Failures inform improvement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5715000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BC483E"/>
                </a:solidFill>
                <a:latin typeface="Aptos"/>
              </a:defRPr>
            </a:pPr>
            <a:r>
              <a:t>No retraining during app 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06 /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Evaluation: measure more than one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1">
                <a:solidFill>
                  <a:srgbClr val="236953"/>
                </a:solidFill>
                <a:latin typeface="Aptos"/>
              </a:defRPr>
            </a:pPr>
            <a:r>
              <a:t>TOP-1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0116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t>Exact top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691640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192024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1">
                <a:solidFill>
                  <a:srgbClr val="5C91AC"/>
                </a:solidFill>
                <a:latin typeface="Aptos"/>
              </a:defRPr>
            </a:pPr>
            <a:r>
              <a:t>TOP-5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31720"/>
            <a:ext cx="20116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t>Correct class in top five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91640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1">
                <a:solidFill>
                  <a:srgbClr val="EF7758"/>
                </a:solidFill>
                <a:latin typeface="Aptos"/>
              </a:defRPr>
            </a:pPr>
            <a:r>
              <a:t>MACRO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20116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t>Class-balanced performance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91640"/>
            <a:ext cx="2423160" cy="1417320"/>
          </a:xfrm>
          <a:prstGeom prst="roundRect">
            <a:avLst>
              <a:gd name="adj" fmla="val 12000"/>
            </a:avLst>
          </a:prstGeom>
          <a:solidFill>
            <a:srgbClr val="F4E8B4"/>
          </a:solidFill>
          <a:ln>
            <a:solidFill>
              <a:srgbClr val="F4E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81159" y="1920240"/>
            <a:ext cx="2011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500" b="1">
                <a:solidFill>
                  <a:srgbClr val="91701C"/>
                </a:solidFill>
                <a:latin typeface="Aptos"/>
              </a:defRPr>
            </a:pPr>
            <a:r>
              <a:t>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2331720"/>
            <a:ext cx="20116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0">
                <a:solidFill>
                  <a:srgbClr val="1B272A"/>
                </a:solidFill>
                <a:latin typeface="Aptos"/>
              </a:defRPr>
            </a:pPr>
            <a:r>
              <a:t>Time per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20440"/>
            <a:ext cx="3840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100" b="1">
                <a:solidFill>
                  <a:srgbClr val="236953"/>
                </a:solidFill>
                <a:latin typeface="Aptos"/>
              </a:defRPr>
            </a:pPr>
            <a:r>
              <a:t>CONFUSION MATRIX (ILLUSTRATIVE)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31920"/>
            <a:ext cx="539496" cy="356616"/>
          </a:xfrm>
          <a:prstGeom prst="roundRect">
            <a:avLst>
              <a:gd name="adj" fmla="val 12000"/>
            </a:avLst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5394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90%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36192" y="3931920"/>
            <a:ext cx="539496" cy="356616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36192" y="4023360"/>
            <a:ext cx="5394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1B272A"/>
                </a:solidFill>
                <a:latin typeface="Aptos"/>
              </a:defRPr>
            </a:pPr>
            <a:r>
              <a:t>7%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57984" y="3931920"/>
            <a:ext cx="539496" cy="356616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57984" y="4023360"/>
            <a:ext cx="5394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1B272A"/>
                </a:solidFill>
                <a:latin typeface="Aptos"/>
              </a:defRPr>
            </a:pPr>
            <a:r>
              <a:t>3%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79776" y="3931920"/>
            <a:ext cx="539496" cy="356616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79776" y="4023360"/>
            <a:ext cx="5394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1B272A"/>
                </a:solidFill>
                <a:latin typeface="Aptos"/>
              </a:defRPr>
            </a:pPr>
            <a:r>
              <a:t>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370831"/>
            <a:ext cx="539496" cy="356616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462272"/>
            <a:ext cx="5394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1B272A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36192" y="4370831"/>
            <a:ext cx="539496" cy="356616"/>
          </a:xfrm>
          <a:prstGeom prst="roundRect">
            <a:avLst>
              <a:gd name="adj" fmla="val 12000"/>
            </a:avLst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36192" y="4462272"/>
            <a:ext cx="5394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70%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57984" y="4370831"/>
            <a:ext cx="539496" cy="356616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57984" y="4462272"/>
            <a:ext cx="5394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1B272A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79776" y="4370831"/>
            <a:ext cx="539496" cy="356616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79776" y="4462272"/>
            <a:ext cx="5394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1B272A"/>
                </a:solidFill>
                <a:latin typeface="Aptos"/>
              </a:defRPr>
            </a:pPr>
            <a:r>
              <a:t>5%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809744"/>
            <a:ext cx="539496" cy="356616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4901184"/>
            <a:ext cx="5394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1B272A"/>
                </a:solidFill>
                <a:latin typeface="Aptos"/>
              </a:defRPr>
            </a:pPr>
            <a:r>
              <a:t>2%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36192" y="4809744"/>
            <a:ext cx="539496" cy="356616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36192" y="4901184"/>
            <a:ext cx="5394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1B272A"/>
                </a:solidFill>
                <a:latin typeface="Aptos"/>
              </a:defRPr>
            </a:pPr>
            <a:r>
              <a:t>12%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57984" y="4809744"/>
            <a:ext cx="539496" cy="356616"/>
          </a:xfrm>
          <a:prstGeom prst="roundRect">
            <a:avLst>
              <a:gd name="adj" fmla="val 12000"/>
            </a:avLst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57984" y="4901184"/>
            <a:ext cx="5394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78%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79776" y="4809744"/>
            <a:ext cx="539496" cy="356616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79776" y="4901184"/>
            <a:ext cx="5394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1B272A"/>
                </a:solidFill>
                <a:latin typeface="Aptos"/>
              </a:defRPr>
            </a:pPr>
            <a:r>
              <a:t>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5248656"/>
            <a:ext cx="539496" cy="356616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" y="5340096"/>
            <a:ext cx="5394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1B272A"/>
                </a:solidFill>
                <a:latin typeface="Aptos"/>
              </a:defRPr>
            </a:pPr>
            <a:r>
              <a:t>3%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36192" y="5248656"/>
            <a:ext cx="539496" cy="356616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536192" y="5340096"/>
            <a:ext cx="5394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1B272A"/>
                </a:solidFill>
                <a:latin typeface="Aptos"/>
              </a:defRPr>
            </a:pPr>
            <a:r>
              <a:t>8%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57984" y="5248656"/>
            <a:ext cx="539496" cy="356616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57984" y="5340096"/>
            <a:ext cx="5394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1B272A"/>
                </a:solidFill>
                <a:latin typeface="Aptos"/>
              </a:defRPr>
            </a:pPr>
            <a:r>
              <a:t>17%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79776" y="5248656"/>
            <a:ext cx="539496" cy="356616"/>
          </a:xfrm>
          <a:prstGeom prst="roundRect">
            <a:avLst>
              <a:gd name="adj" fmla="val 12000"/>
            </a:avLst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79776" y="5340096"/>
            <a:ext cx="539496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72%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06240" y="3474720"/>
            <a:ext cx="7132320" cy="224028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26280" y="3767328"/>
            <a:ext cx="63093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D2E870"/>
                </a:solidFill>
                <a:latin typeface="Aptos"/>
              </a:defRPr>
            </a:pPr>
            <a:r>
              <a:t>WHY FAILURE ANALYSIS MATTERS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4251960"/>
            <a:ext cx="621792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A single accuracy score hides which classes are confused — and where confidence is misplaced.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6280" y="5166360"/>
            <a:ext cx="63093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0">
                <a:solidFill>
                  <a:srgbClr val="BED2C7"/>
                </a:solidFill>
                <a:latin typeface="Aptos"/>
              </a:defRPr>
            </a:pPr>
            <a:r>
              <a:t>Illustrative values only • replace with generated evaluation_results/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07 /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Failure cases turn errors into engineering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01752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17320" y="1965960"/>
            <a:ext cx="1645920" cy="164592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98371" y="2147011"/>
            <a:ext cx="1283817" cy="1283817"/>
          </a:xfrm>
          <a:prstGeom prst="ellipse">
            <a:avLst/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sosceles Triangle 8"/>
          <p:cNvSpPr/>
          <p:nvPr/>
        </p:nvSpPr>
        <p:spPr>
          <a:xfrm rot="10800000">
            <a:off x="1828800" y="2245766"/>
            <a:ext cx="822960" cy="954633"/>
          </a:xfrm>
          <a:prstGeom prst="triangle">
            <a:avLst/>
          </a:prstGeom>
          <a:solidFill>
            <a:srgbClr val="F4C34B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059228" y="2542032"/>
            <a:ext cx="131673" cy="131673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322576" y="2690164"/>
            <a:ext cx="131673" cy="131673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74443" y="2904134"/>
            <a:ext cx="131673" cy="131673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236953"/>
                </a:solidFill>
                <a:latin typeface="Aptos"/>
              </a:defRPr>
            </a:pPr>
            <a:r>
              <a:t>GROUND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000" b="1">
                <a:solidFill>
                  <a:srgbClr val="1B272A"/>
                </a:solidFill>
                <a:latin typeface="Aptos"/>
              </a:defRPr>
            </a:pPr>
            <a:r>
              <a:t>Pizza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645920"/>
            <a:ext cx="301752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46320" y="1965960"/>
            <a:ext cx="1645920" cy="1645920"/>
          </a:xfrm>
          <a:prstGeom prst="ellipse">
            <a:avLst/>
          </a:prstGeom>
          <a:solidFill>
            <a:srgbClr val="FFFFFF"/>
          </a:solidFill>
          <a:ln>
            <a:solidFill>
              <a:srgbClr val="E0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027371" y="2147011"/>
            <a:ext cx="1283817" cy="1283817"/>
          </a:xfrm>
          <a:prstGeom prst="ellipse">
            <a:avLst/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257800" y="2459736"/>
            <a:ext cx="312724" cy="312724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586983" y="2328062"/>
            <a:ext cx="312724" cy="312724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00953" y="2657246"/>
            <a:ext cx="312724" cy="312724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389473" y="2821838"/>
            <a:ext cx="312724" cy="312724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702198" y="2937052"/>
            <a:ext cx="312724" cy="312724"/>
          </a:xfrm>
          <a:prstGeom prst="ellipse">
            <a:avLst/>
          </a:prstGeom>
          <a:solidFill>
            <a:srgbClr val="F4C34B"/>
          </a:solidFill>
          <a:ln>
            <a:solidFill>
              <a:srgbClr val="F4C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24688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BC483E"/>
                </a:solidFill>
                <a:latin typeface="Aptos"/>
              </a:defRPr>
            </a:pPr>
            <a:r>
              <a:t>MODEL PREDICTION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25196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2000" b="1">
                <a:solidFill>
                  <a:srgbClr val="1B272A"/>
                </a:solidFill>
                <a:latin typeface="Aptos"/>
              </a:defRPr>
            </a:pPr>
            <a:r>
              <a:t>Salad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94760" y="3200400"/>
            <a:ext cx="320040" cy="0"/>
          </a:xfrm>
          <a:prstGeom prst="line">
            <a:avLst/>
          </a:prstGeom>
          <a:ln w="381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635240" y="1645920"/>
            <a:ext cx="3703320" cy="347472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79" y="1965960"/>
            <a:ext cx="30175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1">
                <a:solidFill>
                  <a:srgbClr val="236953"/>
                </a:solidFill>
                <a:latin typeface="Aptos"/>
              </a:defRPr>
            </a:pPr>
            <a:r>
              <a:t>DEBUGGING LOOP</a:t>
            </a:r>
          </a:p>
        </p:txBody>
      </p:sp>
      <p:sp>
        <p:nvSpPr>
          <p:cNvPr id="28" name="Oval 27"/>
          <p:cNvSpPr/>
          <p:nvPr/>
        </p:nvSpPr>
        <p:spPr>
          <a:xfrm>
            <a:off x="7973568" y="2514600"/>
            <a:ext cx="201168" cy="20116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73568" y="2569464"/>
            <a:ext cx="201168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496312"/>
            <a:ext cx="2560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1B272A"/>
                </a:solidFill>
                <a:latin typeface="Aptos"/>
              </a:defRPr>
            </a:pPr>
            <a:r>
              <a:t>Inspect image quality</a:t>
            </a:r>
          </a:p>
        </p:txBody>
      </p:sp>
      <p:sp>
        <p:nvSpPr>
          <p:cNvPr id="31" name="Oval 30"/>
          <p:cNvSpPr/>
          <p:nvPr/>
        </p:nvSpPr>
        <p:spPr>
          <a:xfrm>
            <a:off x="7973568" y="2953512"/>
            <a:ext cx="201168" cy="20116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73568" y="3008376"/>
            <a:ext cx="201168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935224"/>
            <a:ext cx="2560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1B272A"/>
                </a:solidFill>
                <a:latin typeface="Aptos"/>
              </a:defRPr>
            </a:pPr>
            <a:r>
              <a:t>Review confusion pairs</a:t>
            </a:r>
          </a:p>
        </p:txBody>
      </p:sp>
      <p:sp>
        <p:nvSpPr>
          <p:cNvPr id="34" name="Oval 33"/>
          <p:cNvSpPr/>
          <p:nvPr/>
        </p:nvSpPr>
        <p:spPr>
          <a:xfrm>
            <a:off x="7973568" y="3392424"/>
            <a:ext cx="201168" cy="20116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73568" y="3447288"/>
            <a:ext cx="201168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374136"/>
            <a:ext cx="2560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1B272A"/>
                </a:solidFill>
                <a:latin typeface="Aptos"/>
              </a:defRPr>
            </a:pPr>
            <a:r>
              <a:t>Check class imbalance</a:t>
            </a:r>
          </a:p>
        </p:txBody>
      </p:sp>
      <p:sp>
        <p:nvSpPr>
          <p:cNvPr id="37" name="Oval 36"/>
          <p:cNvSpPr/>
          <p:nvPr/>
        </p:nvSpPr>
        <p:spPr>
          <a:xfrm>
            <a:off x="7973568" y="3831335"/>
            <a:ext cx="201168" cy="20116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73568" y="3886199"/>
            <a:ext cx="201168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813048"/>
            <a:ext cx="2560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1B272A"/>
                </a:solidFill>
                <a:latin typeface="Aptos"/>
              </a:defRPr>
            </a:pPr>
            <a:r>
              <a:t>Compare confidence</a:t>
            </a:r>
          </a:p>
        </p:txBody>
      </p:sp>
      <p:sp>
        <p:nvSpPr>
          <p:cNvPr id="40" name="Oval 39"/>
          <p:cNvSpPr/>
          <p:nvPr/>
        </p:nvSpPr>
        <p:spPr>
          <a:xfrm>
            <a:off x="7973568" y="4270248"/>
            <a:ext cx="201168" cy="201168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73568" y="4325112"/>
            <a:ext cx="201168" cy="91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251960"/>
            <a:ext cx="25603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1B272A"/>
                </a:solidFill>
                <a:latin typeface="Aptos"/>
              </a:defRPr>
            </a:pPr>
            <a:r>
              <a:t>Add targeted examples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627170"/>
                </a:solidFill>
                <a:latin typeface="Aptos"/>
              </a:defRPr>
            </a:pPr>
            <a:r>
              <a:t>Example is schematic, not a recorded model error. Use a real saved failure image in the viva.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08 /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System architecture: train once, evaluate, then serve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21408"/>
            <a:ext cx="18288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B272A"/>
                </a:solidFill>
                <a:latin typeface="Aptos"/>
              </a:defRPr>
            </a:pPr>
            <a:r>
              <a:t>FOOD-101</a:t>
            </a:r>
            <a:br/>
            <a:r>
              <a:t>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2121408"/>
            <a:ext cx="18288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B272A"/>
                </a:solidFill>
                <a:latin typeface="Aptos"/>
              </a:defRPr>
            </a:pPr>
            <a:r>
              <a:t>TRAINING</a:t>
            </a:r>
            <a:br/>
            <a:r>
              <a:t>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92024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59" y="2121408"/>
            <a:ext cx="18288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B272A"/>
                </a:solidFill>
                <a:latin typeface="Aptos"/>
              </a:defRPr>
            </a:pPr>
            <a:r>
              <a:t>SAVED MODEL</a:t>
            </a:r>
            <a:br/>
            <a:r>
              <a:t>+ LABELS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92024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4E8B4"/>
          </a:solidFill>
          <a:ln>
            <a:solidFill>
              <a:srgbClr val="F4E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2121408"/>
            <a:ext cx="2468879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B272A"/>
                </a:solidFill>
                <a:latin typeface="Aptos"/>
              </a:defRPr>
            </a:pPr>
            <a:r>
              <a:t>STREAMLIT</a:t>
            </a:r>
            <a:br/>
            <a:r>
              <a:t>INFERENCE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2377440"/>
            <a:ext cx="411480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03520" y="2377440"/>
            <a:ext cx="411480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18120" y="2377440"/>
            <a:ext cx="411480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766560" y="2834640"/>
            <a:ext cx="0" cy="868680"/>
          </a:xfrm>
          <a:prstGeom prst="line">
            <a:avLst/>
          </a:prstGeom>
          <a:ln w="25400">
            <a:solidFill>
              <a:srgbClr val="5C9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120640" y="3703320"/>
            <a:ext cx="1645920" cy="0"/>
          </a:xfrm>
          <a:prstGeom prst="line">
            <a:avLst/>
          </a:prstGeom>
          <a:ln w="25400">
            <a:solidFill>
              <a:srgbClr val="5C9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00400" y="4160520"/>
            <a:ext cx="3749039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4407408"/>
            <a:ext cx="3200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200" b="1">
                <a:solidFill>
                  <a:srgbClr val="236953"/>
                </a:solidFill>
                <a:latin typeface="Aptos"/>
              </a:defRPr>
            </a:pPr>
            <a:r>
              <a:t>EVALUATION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754880"/>
            <a:ext cx="32004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0">
                <a:solidFill>
                  <a:srgbClr val="627170"/>
                </a:solidFill>
                <a:latin typeface="Aptos"/>
              </a:defRPr>
            </a:pPr>
            <a:r>
              <a:t>Metrics • confusion matrix • failures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74920" y="3703320"/>
            <a:ext cx="0" cy="411480"/>
          </a:xfrm>
          <a:prstGeom prst="line">
            <a:avLst/>
          </a:prstGeom>
          <a:ln w="25400">
            <a:solidFill>
              <a:srgbClr val="5C9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26679" y="416052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1000" y="4407408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200" b="1">
                <a:solidFill>
                  <a:srgbClr val="D2E870"/>
                </a:solidFill>
                <a:latin typeface="Aptos"/>
              </a:defRPr>
            </a:pPr>
            <a:r>
              <a:t>SAVED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754880"/>
            <a:ext cx="2651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evaluation_results/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49440" y="4663440"/>
            <a:ext cx="731520" cy="0"/>
          </a:xfrm>
          <a:prstGeom prst="line">
            <a:avLst/>
          </a:prstGeom>
          <a:ln w="25400">
            <a:solidFill>
              <a:srgbClr val="5C91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5806440"/>
            <a:ext cx="104241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627170"/>
                </a:solidFill>
                <a:latin typeface="Aptos"/>
              </a:defRPr>
            </a:pPr>
            <a:r>
              <a:t>Reproducibility principle: evaluation artifacts are generated ahead of time and mounted/read by the app.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36576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000" b="1">
                <a:solidFill>
                  <a:srgbClr val="236953"/>
                </a:solidFill>
                <a:latin typeface="Aptos"/>
              </a:defRPr>
            </a:pPr>
            <a:r>
              <a:t>09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2700" b="1">
                <a:solidFill>
                  <a:srgbClr val="1B272A"/>
                </a:solidFill>
                <a:latin typeface="Aptos Display"/>
              </a:defRPr>
            </a:pPr>
            <a:r>
              <a:t>What we learned — and what comes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640080" cy="50292"/>
          </a:xfrm>
          <a:prstGeom prst="rect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defRPr sz="900" b="0">
                <a:solidFill>
                  <a:srgbClr val="62717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926080" cy="2423160"/>
          </a:xfrm>
          <a:prstGeom prst="roundRect">
            <a:avLst>
              <a:gd name="adj" fmla="val 12000"/>
            </a:avLst>
          </a:prstGeom>
          <a:solidFill>
            <a:srgbClr val="D7EBDE"/>
          </a:solidFill>
          <a:ln>
            <a:solidFill>
              <a:srgbClr val="D7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084831"/>
            <a:ext cx="530352" cy="530352"/>
          </a:xfrm>
          <a:prstGeom prst="ellipse">
            <a:avLst/>
          </a:prstGeom>
          <a:solidFill>
            <a:srgbClr val="236953"/>
          </a:solidFill>
          <a:ln>
            <a:solidFill>
              <a:srgbClr val="236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49424"/>
            <a:ext cx="530352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3464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1B272A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10128"/>
            <a:ext cx="242316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1B272A"/>
                </a:solidFill>
                <a:latin typeface="Aptos"/>
              </a:defRPr>
            </a:pPr>
            <a:r>
              <a:t>Generate held-out metrics and capture real app screenshots.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828800"/>
            <a:ext cx="2926080" cy="2423160"/>
          </a:xfrm>
          <a:prstGeom prst="roundRect">
            <a:avLst>
              <a:gd name="adj" fmla="val 12000"/>
            </a:avLst>
          </a:prstGeom>
          <a:solidFill>
            <a:srgbClr val="FBDECA"/>
          </a:solidFill>
          <a:ln>
            <a:solidFill>
              <a:srgbClr val="FBD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97680" y="2084831"/>
            <a:ext cx="530352" cy="530352"/>
          </a:xfrm>
          <a:prstGeom prst="ellipse">
            <a:avLst/>
          </a:prstGeom>
          <a:solidFill>
            <a:srgbClr val="EF7758"/>
          </a:solidFill>
          <a:ln>
            <a:solidFill>
              <a:srgbClr val="EF7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97680" y="2249424"/>
            <a:ext cx="530352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3464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1B272A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310128"/>
            <a:ext cx="242316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1B272A"/>
                </a:solidFill>
                <a:latin typeface="Aptos"/>
              </a:defRPr>
            </a:pPr>
            <a:r>
              <a:t>Group errors by class, confidence, and image conditions.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828800"/>
            <a:ext cx="2926080" cy="2423160"/>
          </a:xfrm>
          <a:prstGeom prst="roundRect">
            <a:avLst>
              <a:gd name="adj" fmla="val 12000"/>
            </a:avLst>
          </a:prstGeom>
          <a:solidFill>
            <a:srgbClr val="DDECF1"/>
          </a:solidFill>
          <a:ln>
            <a:solidFill>
              <a:srgbClr val="DD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635240" y="2084831"/>
            <a:ext cx="530352" cy="530352"/>
          </a:xfrm>
          <a:prstGeom prst="ellipse">
            <a:avLst/>
          </a:prstGeom>
          <a:solidFill>
            <a:srgbClr val="5C91AC"/>
          </a:solidFill>
          <a:ln>
            <a:solidFill>
              <a:srgbClr val="5C91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2249424"/>
            <a:ext cx="530352" cy="137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834640"/>
            <a:ext cx="2468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700" b="1">
                <a:solidFill>
                  <a:srgbClr val="1B272A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310128"/>
            <a:ext cx="242316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300" b="0">
                <a:solidFill>
                  <a:srgbClr val="1B272A"/>
                </a:solidFill>
                <a:latin typeface="Aptos"/>
              </a:defRPr>
            </a:pPr>
            <a:r>
              <a:t>Compare backbones, tune augmentation, measure latency.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57600" y="3017520"/>
            <a:ext cx="320039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95160" y="3017520"/>
            <a:ext cx="320040" cy="0"/>
          </a:xfrm>
          <a:prstGeom prst="line">
            <a:avLst/>
          </a:prstGeom>
          <a:ln w="25400">
            <a:solidFill>
              <a:srgbClr val="EF77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20" y="4800600"/>
            <a:ext cx="9601200" cy="868680"/>
          </a:xfrm>
          <a:prstGeom prst="roundRect">
            <a:avLst>
              <a:gd name="adj" fmla="val 12000"/>
            </a:avLst>
          </a:prstGeom>
          <a:solidFill>
            <a:srgbClr val="122120"/>
          </a:solidFill>
          <a:ln>
            <a:solidFill>
              <a:srgbClr val="122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056632"/>
            <a:ext cx="90525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BiteID = image classification + measurable evaluation + an iterative error-analysis loop.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defRPr sz="1200" b="0">
                <a:solidFill>
                  <a:srgbClr val="627170"/>
                </a:solidFill>
                <a:latin typeface="Aptos"/>
              </a:defRPr>
            </a:pPr>
            <a:r>
              <a:t>Discussion: How would you trade off Top-1 accuracy, Top-5 usefulness, inference latency, and generalization?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1132</Words>
  <Application>Microsoft Office PowerPoint</Application>
  <PresentationFormat>Widescreen</PresentationFormat>
  <Paragraphs>317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2026-10-17T14:12:49Z</dcterms:modified>
  <cp:category/>
</cp:coreProperties>
</file>